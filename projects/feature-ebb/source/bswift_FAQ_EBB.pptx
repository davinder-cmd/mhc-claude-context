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1" d="100"/>
          <a:sy n="51" d="100"/>
        </p:scale>
        <p:origin x="195" y="99"/>
      </p:cViewPr>
      <p:guideLst/>
    </p:cSldViewPr>
  </p:slideViewPr>
  <p:notesTextViewPr>
    <p:cViewPr>
      <p:scale>
        <a:sx n="1" d="1"/>
        <a:sy n="1" d="1"/>
      </p:scale>
      <p:origin x="0" y="0"/>
    </p:cViewPr>
  </p:notesTextViewPr>
  <p:sorterViewPr>
    <p:cViewPr>
      <p:scale>
        <a:sx n="100" d="100"/>
        <a:sy n="100" d="100"/>
      </p:scale>
      <p:origin x="0" y="-1602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3090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FFFFFF"/>
          </a:solidFill>
          <a:ln/>
        </p:spPr>
        <p:txBody>
          <a:bodyPr/>
          <a:lstStyle/>
          <a:p>
            <a:endParaRPr lang="en-US"/>
          </a:p>
        </p:txBody>
      </p:sp>
      <p:pic>
        <p:nvPicPr>
          <p:cNvPr id="3" name="Image 0" descr="preencoded.png"/>
          <p:cNvPicPr>
            <a:picLocks noChangeAspect="1"/>
          </p:cNvPicPr>
          <p:nvPr/>
        </p:nvPicPr>
        <p:blipFill>
          <a:blip r:embed="rId3">
            <a:alphaModFix amt="10000"/>
          </a:blip>
          <a:stretch>
            <a:fillRect/>
          </a:stretch>
        </p:blipFill>
        <p:spPr>
          <a:xfrm>
            <a:off x="13525501" y="-1143000"/>
            <a:ext cx="5905500" cy="5905500"/>
          </a:xfrm>
          <a:prstGeom prst="rect">
            <a:avLst/>
          </a:prstGeom>
        </p:spPr>
      </p:pic>
      <p:pic>
        <p:nvPicPr>
          <p:cNvPr id="4" name="Image 1" descr="preencoded.png"/>
          <p:cNvPicPr>
            <a:picLocks noChangeAspect="1"/>
          </p:cNvPicPr>
          <p:nvPr/>
        </p:nvPicPr>
        <p:blipFill>
          <a:blip r:embed="rId4"/>
          <a:stretch>
            <a:fillRect/>
          </a:stretch>
        </p:blipFill>
        <p:spPr>
          <a:xfrm>
            <a:off x="1143000" y="2007054"/>
            <a:ext cx="1028700" cy="1028700"/>
          </a:xfrm>
          <a:prstGeom prst="rect">
            <a:avLst/>
          </a:prstGeom>
        </p:spPr>
      </p:pic>
      <p:sp>
        <p:nvSpPr>
          <p:cNvPr id="5" name="Text 1"/>
          <p:cNvSpPr/>
          <p:nvPr/>
        </p:nvSpPr>
        <p:spPr>
          <a:xfrm>
            <a:off x="2419350" y="2222046"/>
            <a:ext cx="3120838" cy="623208"/>
          </a:xfrm>
          <a:prstGeom prst="rect">
            <a:avLst/>
          </a:prstGeom>
          <a:noFill/>
          <a:ln/>
        </p:spPr>
        <p:txBody>
          <a:bodyPr wrap="square" lIns="25400" tIns="25400" rIns="25400" bIns="25400" rtlCol="0" anchor="t">
            <a:normAutofit/>
          </a:bodyPr>
          <a:lstStyle/>
          <a:p>
            <a:pPr marL="0" indent="0" algn="l">
              <a:buNone/>
            </a:pPr>
            <a:r>
              <a:rPr lang="en-US" sz="3300" b="1" kern="0" spc="-37" dirty="0">
                <a:solidFill>
                  <a:srgbClr val="007496"/>
                </a:solidFill>
                <a:latin typeface="Arial" pitchFamily="34" charset="0"/>
                <a:ea typeface="Arial" pitchFamily="34" charset="-122"/>
                <a:cs typeface="Arial" pitchFamily="34" charset="-120"/>
              </a:rPr>
              <a:t>bswift Elevate</a:t>
            </a:r>
            <a:endParaRPr lang="en-US" sz="3300" dirty="0"/>
          </a:p>
        </p:txBody>
      </p:sp>
      <p:sp>
        <p:nvSpPr>
          <p:cNvPr id="6" name="Shape 2"/>
          <p:cNvSpPr/>
          <p:nvPr/>
        </p:nvSpPr>
        <p:spPr>
          <a:xfrm>
            <a:off x="1143000" y="3648075"/>
            <a:ext cx="114300" cy="114300"/>
          </a:xfrm>
          <a:prstGeom prst="roundRect">
            <a:avLst>
              <a:gd name="adj" fmla="val 33333"/>
            </a:avLst>
          </a:prstGeom>
          <a:solidFill>
            <a:srgbClr val="007496"/>
          </a:solidFill>
          <a:ln/>
        </p:spPr>
        <p:txBody>
          <a:bodyPr/>
          <a:lstStyle/>
          <a:p>
            <a:endParaRPr lang="en-US"/>
          </a:p>
        </p:txBody>
      </p:sp>
      <p:sp>
        <p:nvSpPr>
          <p:cNvPr id="7" name="Text 3"/>
          <p:cNvSpPr/>
          <p:nvPr/>
        </p:nvSpPr>
        <p:spPr>
          <a:xfrm>
            <a:off x="1371600" y="3569154"/>
            <a:ext cx="3931920" cy="291193"/>
          </a:xfrm>
          <a:prstGeom prst="rect">
            <a:avLst/>
          </a:prstGeom>
          <a:noFill/>
          <a:ln/>
        </p:spPr>
        <p:txBody>
          <a:bodyPr wrap="square" lIns="0" tIns="0" rIns="0" bIns="0" rtlCol="0" anchor="t">
            <a:normAutofit/>
          </a:bodyPr>
          <a:lstStyle/>
          <a:p>
            <a:pPr marL="0" indent="0" algn="l">
              <a:buNone/>
            </a:pPr>
            <a:r>
              <a:rPr lang="en-US" sz="1500" b="1" kern="0" spc="210" dirty="0">
                <a:solidFill>
                  <a:srgbClr val="007496"/>
                </a:solidFill>
                <a:latin typeface="Arial" pitchFamily="34" charset="0"/>
                <a:ea typeface="Arial" pitchFamily="34" charset="-122"/>
                <a:cs typeface="Arial" pitchFamily="34" charset="-120"/>
              </a:rPr>
              <a:t>ENGAGEMENT-BASED BILLING</a:t>
            </a:r>
            <a:endParaRPr lang="en-US" sz="1500" dirty="0"/>
          </a:p>
        </p:txBody>
      </p:sp>
      <p:sp>
        <p:nvSpPr>
          <p:cNvPr id="8" name="Text 4"/>
          <p:cNvSpPr/>
          <p:nvPr/>
        </p:nvSpPr>
        <p:spPr>
          <a:xfrm>
            <a:off x="1143000" y="4050847"/>
            <a:ext cx="11239501" cy="3181350"/>
          </a:xfrm>
          <a:prstGeom prst="rect">
            <a:avLst/>
          </a:prstGeom>
          <a:noFill/>
          <a:ln/>
        </p:spPr>
        <p:txBody>
          <a:bodyPr wrap="square" lIns="25400" tIns="25400" rIns="25400" bIns="25400" rtlCol="0" anchor="t">
            <a:normAutofit/>
          </a:bodyPr>
          <a:lstStyle/>
          <a:p>
            <a:pPr marL="0" indent="0" algn="l">
              <a:lnSpc>
                <a:spcPct val="110000"/>
              </a:lnSpc>
              <a:buNone/>
            </a:pPr>
            <a:r>
              <a:rPr lang="en-US" sz="4500" b="1" kern="0" spc="-81" dirty="0">
                <a:solidFill>
                  <a:srgbClr val="1F2429"/>
                </a:solidFill>
                <a:latin typeface="Arial" pitchFamily="34" charset="0"/>
                <a:ea typeface="Arial" pitchFamily="34" charset="-122"/>
                <a:cs typeface="Arial" pitchFamily="34" charset="-120"/>
              </a:rPr>
              <a:t>How Elevate Delivers a Clinically Guided, AI-Powered Digital Health &amp; Wellbeing Platform Through a Claims-Based Billing Model</a:t>
            </a:r>
            <a:endParaRPr lang="en-US" sz="4500" dirty="0"/>
          </a:p>
        </p:txBody>
      </p:sp>
      <p:sp>
        <p:nvSpPr>
          <p:cNvPr id="9" name="Text 5"/>
          <p:cNvSpPr/>
          <p:nvPr/>
        </p:nvSpPr>
        <p:spPr>
          <a:xfrm>
            <a:off x="1143000" y="7479847"/>
            <a:ext cx="9166482" cy="83820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4E565E"/>
                </a:solidFill>
                <a:latin typeface="Arial" pitchFamily="34" charset="0"/>
                <a:ea typeface="Arial" pitchFamily="34" charset="-122"/>
                <a:cs typeface="Arial" pitchFamily="34" charset="-120"/>
              </a:rPr>
              <a:t>Answers to the questions employers, brokers, and benefits teams ask most.</a:t>
            </a:r>
            <a:endParaRPr lang="en-US" sz="2100" dirty="0"/>
          </a:p>
        </p:txBody>
      </p:sp>
      <p:sp>
        <p:nvSpPr>
          <p:cNvPr id="10" name="Text 6"/>
          <p:cNvSpPr/>
          <p:nvPr/>
        </p:nvSpPr>
        <p:spPr>
          <a:xfrm>
            <a:off x="1143000" y="9269186"/>
            <a:ext cx="2064204" cy="293914"/>
          </a:xfrm>
          <a:prstGeom prst="rect">
            <a:avLst/>
          </a:prstGeom>
          <a:noFill/>
          <a:ln/>
        </p:spPr>
        <p:txBody>
          <a:bodyPr wrap="square" lIns="25400" tIns="25400" rIns="25400" bIns="25400" rtlCol="0" anchor="t">
            <a:normAutofit fontScale="85000" lnSpcReduction="10000"/>
          </a:bodyPr>
          <a:lstStyle/>
          <a:p>
            <a:pPr marL="0" indent="0" algn="l">
              <a:buNone/>
            </a:pPr>
            <a:r>
              <a:rPr lang="en-US" sz="1425" b="1" dirty="0">
                <a:solidFill>
                  <a:srgbClr val="6E7780"/>
                </a:solidFill>
                <a:latin typeface="Arial" pitchFamily="34" charset="0"/>
                <a:ea typeface="Arial" pitchFamily="34" charset="-122"/>
                <a:cs typeface="Arial" pitchFamily="34" charset="-120"/>
              </a:rPr>
              <a:t>For internal &amp; partner use</a:t>
            </a:r>
            <a:endParaRPr lang="en-US" sz="1425" dirty="0"/>
          </a:p>
        </p:txBody>
      </p:sp>
      <p:sp>
        <p:nvSpPr>
          <p:cNvPr id="11" name="Shape 7"/>
          <p:cNvSpPr/>
          <p:nvPr/>
        </p:nvSpPr>
        <p:spPr>
          <a:xfrm>
            <a:off x="3283404" y="9392331"/>
            <a:ext cx="12918452" cy="9525"/>
          </a:xfrm>
          <a:prstGeom prst="rect">
            <a:avLst/>
          </a:prstGeom>
          <a:solidFill>
            <a:srgbClr val="C2C8CE"/>
          </a:solidFill>
          <a:ln/>
        </p:spPr>
        <p:txBody>
          <a:bodyPr/>
          <a:lstStyle/>
          <a:p>
            <a:endParaRPr lang="en-US"/>
          </a:p>
        </p:txBody>
      </p:sp>
      <p:sp>
        <p:nvSpPr>
          <p:cNvPr id="12" name="Text 8"/>
          <p:cNvSpPr/>
          <p:nvPr/>
        </p:nvSpPr>
        <p:spPr>
          <a:xfrm>
            <a:off x="16354255" y="9269186"/>
            <a:ext cx="866945" cy="293914"/>
          </a:xfrm>
          <a:prstGeom prst="rect">
            <a:avLst/>
          </a:prstGeom>
          <a:noFill/>
          <a:ln/>
        </p:spPr>
        <p:txBody>
          <a:bodyPr wrap="square" lIns="25400" tIns="25400" rIns="25400" bIns="25400" rtlCol="0" anchor="t">
            <a:normAutofit fontScale="92500"/>
          </a:bodyPr>
          <a:lstStyle/>
          <a:p>
            <a:pPr marL="0" indent="0" algn="l">
              <a:buNone/>
            </a:pPr>
            <a:r>
              <a:rPr lang="en-US" sz="1425" b="1" dirty="0">
                <a:solidFill>
                  <a:srgbClr val="6E7780"/>
                </a:solidFill>
                <a:latin typeface="Arial" pitchFamily="34" charset="0"/>
                <a:ea typeface="Arial" pitchFamily="34" charset="-122"/>
                <a:cs typeface="Arial" pitchFamily="34" charset="-120"/>
              </a:rPr>
              <a:t>June 2026</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6F2F5"/>
        </a:solidFill>
        <a:effectLst/>
      </p:bgPr>
    </p:bg>
    <p:spTree>
      <p:nvGrpSpPr>
        <p:cNvPr id="1" name=""/>
        <p:cNvGrpSpPr/>
        <p:nvPr/>
      </p:nvGrpSpPr>
      <p:grpSpPr>
        <a:xfrm>
          <a:off x="0" y="0"/>
          <a:ext cx="0" cy="0"/>
          <a:chOff x="0" y="0"/>
          <a:chExt cx="0" cy="0"/>
        </a:xfrm>
      </p:grpSpPr>
      <p:sp>
        <p:nvSpPr>
          <p:cNvPr id="2" name="Shape 0"/>
          <p:cNvSpPr/>
          <p:nvPr/>
        </p:nvSpPr>
        <p:spPr>
          <a:xfrm>
            <a:off x="1143000" y="2953260"/>
            <a:ext cx="914400" cy="914400"/>
          </a:xfrm>
          <a:prstGeom prst="roundRect">
            <a:avLst>
              <a:gd name="adj" fmla="val 27083"/>
            </a:avLst>
          </a:prstGeom>
          <a:solidFill>
            <a:srgbClr val="007496"/>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485900" y="3296160"/>
            <a:ext cx="228600" cy="228600"/>
          </a:xfrm>
          <a:prstGeom prst="rect">
            <a:avLst/>
          </a:prstGeom>
        </p:spPr>
      </p:pic>
      <p:sp>
        <p:nvSpPr>
          <p:cNvPr id="4" name="Text 1"/>
          <p:cNvSpPr/>
          <p:nvPr/>
        </p:nvSpPr>
        <p:spPr>
          <a:xfrm>
            <a:off x="1143000" y="4248660"/>
            <a:ext cx="16482061" cy="446314"/>
          </a:xfrm>
          <a:prstGeom prst="rect">
            <a:avLst/>
          </a:prstGeom>
          <a:noFill/>
          <a:ln/>
        </p:spPr>
        <p:txBody>
          <a:bodyPr wrap="square" lIns="25400" tIns="25400" rIns="25400" bIns="25400" rtlCol="0" anchor="t">
            <a:normAutofit/>
          </a:bodyPr>
          <a:lstStyle/>
          <a:p>
            <a:pPr marL="0" indent="0" algn="l">
              <a:buNone/>
            </a:pPr>
            <a:r>
              <a:rPr lang="en-US" sz="2250" b="1" kern="0" spc="90" dirty="0">
                <a:solidFill>
                  <a:srgbClr val="007496"/>
                </a:solidFill>
                <a:latin typeface="Arial" pitchFamily="34" charset="0"/>
                <a:ea typeface="Arial" pitchFamily="34" charset="-122"/>
                <a:cs typeface="Arial" pitchFamily="34" charset="-120"/>
              </a:rPr>
              <a:t>01</a:t>
            </a:r>
            <a:endParaRPr lang="en-US" sz="2250" dirty="0"/>
          </a:p>
        </p:txBody>
      </p:sp>
      <p:sp>
        <p:nvSpPr>
          <p:cNvPr id="5" name="Text 2"/>
          <p:cNvSpPr/>
          <p:nvPr/>
        </p:nvSpPr>
        <p:spPr>
          <a:xfrm>
            <a:off x="1143000" y="4828325"/>
            <a:ext cx="16908332" cy="1686265"/>
          </a:xfrm>
          <a:prstGeom prst="rect">
            <a:avLst/>
          </a:prstGeom>
          <a:noFill/>
          <a:ln/>
        </p:spPr>
        <p:txBody>
          <a:bodyPr wrap="square" lIns="25400" tIns="25400" rIns="25400" bIns="25400" rtlCol="0" anchor="t">
            <a:normAutofit/>
          </a:bodyPr>
          <a:lstStyle/>
          <a:p>
            <a:pPr marL="0" indent="0" algn="l">
              <a:lnSpc>
                <a:spcPct val="103000"/>
              </a:lnSpc>
              <a:buNone/>
            </a:pPr>
            <a:r>
              <a:rPr lang="en-US" sz="6300" b="1" kern="0" spc="-126" dirty="0">
                <a:solidFill>
                  <a:srgbClr val="1F2429"/>
                </a:solidFill>
                <a:latin typeface="Arial" pitchFamily="34" charset="0"/>
                <a:ea typeface="Arial" pitchFamily="34" charset="-122"/>
                <a:cs typeface="Arial" pitchFamily="34" charset="-120"/>
              </a:rPr>
              <a:t>The EBB Model </a:t>
            </a:r>
            <a:r>
              <a:rPr lang="en-US" sz="4000" b="1" kern="0" spc="-126" dirty="0">
                <a:solidFill>
                  <a:srgbClr val="1F2429"/>
                </a:solidFill>
                <a:latin typeface="Arial" pitchFamily="34" charset="0"/>
                <a:ea typeface="Arial" pitchFamily="34" charset="-122"/>
                <a:cs typeface="Arial" pitchFamily="34" charset="-120"/>
              </a:rPr>
              <a:t>(Engagement-Based Billing)</a:t>
            </a:r>
            <a:endParaRPr lang="en-US" sz="4000" dirty="0"/>
          </a:p>
        </p:txBody>
      </p:sp>
      <p:sp>
        <p:nvSpPr>
          <p:cNvPr id="6" name="Text 3"/>
          <p:cNvSpPr/>
          <p:nvPr/>
        </p:nvSpPr>
        <p:spPr>
          <a:xfrm>
            <a:off x="1143000" y="6190740"/>
            <a:ext cx="10227833" cy="647700"/>
          </a:xfrm>
          <a:prstGeom prst="rect">
            <a:avLst/>
          </a:prstGeom>
          <a:noFill/>
          <a:ln/>
        </p:spPr>
        <p:txBody>
          <a:bodyPr wrap="square" lIns="25400" tIns="25400" rIns="25400" bIns="25400" rtlCol="0" anchor="t">
            <a:normAutofit/>
          </a:bodyPr>
          <a:lstStyle/>
          <a:p>
            <a:pPr marL="0" indent="0" algn="l">
              <a:buNone/>
            </a:pPr>
            <a:r>
              <a:rPr lang="en-US" sz="2100" dirty="0">
                <a:solidFill>
                  <a:srgbClr val="4E565E"/>
                </a:solidFill>
                <a:latin typeface="Arial" pitchFamily="34" charset="0"/>
                <a:ea typeface="Arial" pitchFamily="34" charset="-122"/>
                <a:cs typeface="Arial" pitchFamily="34" charset="-120"/>
              </a:rPr>
              <a:t>How it works, why it’s possible now, and where the market stands.</a:t>
            </a:r>
            <a:endParaRPr lang="en-US" sz="2100" dirty="0"/>
          </a:p>
        </p:txBody>
      </p:sp>
      <p:sp>
        <p:nvSpPr>
          <p:cNvPr id="7" name="Text 4"/>
          <p:cNvSpPr/>
          <p:nvPr/>
        </p:nvSpPr>
        <p:spPr>
          <a:xfrm>
            <a:off x="16088831" y="9116786"/>
            <a:ext cx="1132369" cy="332014"/>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007496"/>
                </a:solidFill>
                <a:latin typeface="Arial" pitchFamily="34" charset="0"/>
                <a:ea typeface="Arial" pitchFamily="34" charset="-122"/>
                <a:cs typeface="Arial" pitchFamily="34" charset="-120"/>
              </a:rPr>
              <a:t>3 questions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7496"/>
          </a:solidFill>
          <a:ln/>
        </p:spPr>
        <p:txBody>
          <a:bodyPr/>
          <a:lstStyle/>
          <a:p>
            <a:endParaRPr lang="en-US"/>
          </a:p>
        </p:txBody>
      </p:sp>
      <p:sp>
        <p:nvSpPr>
          <p:cNvPr id="4" name="Text 2"/>
          <p:cNvSpPr/>
          <p:nvPr/>
        </p:nvSpPr>
        <p:spPr>
          <a:xfrm>
            <a:off x="1371600" y="914400"/>
            <a:ext cx="2587214" cy="310243"/>
          </a:xfrm>
          <a:prstGeom prst="rect">
            <a:avLst/>
          </a:prstGeom>
          <a:noFill/>
          <a:ln/>
        </p:spPr>
        <p:txBody>
          <a:bodyPr wrap="square" lIns="0" tIns="0" rIns="0" bIns="0" rtlCol="0" anchor="t">
            <a:normAutofit/>
          </a:bodyPr>
          <a:lstStyle/>
          <a:p>
            <a:pPr marL="0" indent="0" algn="l">
              <a:buNone/>
            </a:pPr>
            <a:r>
              <a:rPr lang="en-US" sz="1500" b="1" kern="0" spc="210" dirty="0">
                <a:solidFill>
                  <a:srgbClr val="007496"/>
                </a:solidFill>
                <a:latin typeface="Arial" pitchFamily="34" charset="0"/>
                <a:ea typeface="Arial" pitchFamily="34" charset="-122"/>
                <a:cs typeface="Arial" pitchFamily="34" charset="-120"/>
              </a:rPr>
              <a:t>THE EBB MODEL</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7496">
                    <a:alpha val="92000"/>
                  </a:srgbClr>
                </a:solidFill>
                <a:latin typeface="Arial" pitchFamily="34" charset="0"/>
                <a:ea typeface="Arial" pitchFamily="34" charset="-122"/>
                <a:cs typeface="Arial" pitchFamily="34" charset="-120"/>
              </a:rPr>
              <a:t>Q01</a:t>
            </a:r>
            <a:endParaRPr lang="en-US" sz="8250" dirty="0"/>
          </a:p>
        </p:txBody>
      </p:sp>
      <p:sp>
        <p:nvSpPr>
          <p:cNvPr id="6" name="Text 4"/>
          <p:cNvSpPr/>
          <p:nvPr/>
        </p:nvSpPr>
        <p:spPr>
          <a:xfrm>
            <a:off x="1143000" y="2662918"/>
            <a:ext cx="5712660" cy="180430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What is the legal and regulatory basis for billing these services through claims today, and what has changed?</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294289"/>
            <a:ext cx="228600" cy="228600"/>
          </a:xfrm>
          <a:prstGeom prst="rect">
            <a:avLst/>
          </a:prstGeom>
        </p:spPr>
      </p:pic>
      <p:sp>
        <p:nvSpPr>
          <p:cNvPr id="9" name="Text 6"/>
          <p:cNvSpPr/>
          <p:nvPr/>
        </p:nvSpPr>
        <p:spPr>
          <a:xfrm>
            <a:off x="8477251" y="3294289"/>
            <a:ext cx="1226147" cy="228600"/>
          </a:xfrm>
          <a:prstGeom prst="rect">
            <a:avLst/>
          </a:prstGeom>
          <a:noFill/>
          <a:ln/>
        </p:spPr>
        <p:txBody>
          <a:bodyPr wrap="square" lIns="0" tIns="0" rIns="0" bIns="0" rtlCol="0" anchor="t">
            <a:normAutofit/>
          </a:bodyPr>
          <a:lstStyle/>
          <a:p>
            <a:pPr marL="0" indent="0" algn="l">
              <a:buNone/>
            </a:pPr>
            <a:r>
              <a:rPr lang="en-US" sz="1275" b="1" kern="0" spc="153" dirty="0">
                <a:solidFill>
                  <a:srgbClr val="007496"/>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732439"/>
            <a:ext cx="9261349" cy="1988684"/>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What has changed is that the federal budget reconciliation bill passed in 2025 — known as the “One Big Beautiful Bill Act” — codified the use of certain digital care services as </a:t>
            </a:r>
            <a:r>
              <a:rPr lang="en-US" sz="2025" b="1" dirty="0">
                <a:solidFill>
                  <a:srgbClr val="1F2429"/>
                </a:solidFill>
                <a:latin typeface="Arial" pitchFamily="34" charset="0"/>
                <a:ea typeface="Arial" pitchFamily="34" charset="-122"/>
                <a:cs typeface="Arial" pitchFamily="34" charset="-120"/>
              </a:rPr>
              <a:t>billable healthcare claims eligible for first-dollar coverage </a:t>
            </a:r>
            <a:r>
              <a:rPr lang="en-US" sz="2025" dirty="0">
                <a:solidFill>
                  <a:srgbClr val="4E565E"/>
                </a:solidFill>
                <a:latin typeface="Arial" pitchFamily="34" charset="0"/>
                <a:ea typeface="Arial" pitchFamily="34" charset="-122"/>
                <a:cs typeface="Arial" pitchFamily="34" charset="-120"/>
              </a:rPr>
              <a:t>. This means the member has no out-of-pocket expense when accessing these services.</a:t>
            </a:r>
            <a:endParaRPr lang="en-US" sz="2025" dirty="0"/>
          </a:p>
        </p:txBody>
      </p:sp>
      <p:sp>
        <p:nvSpPr>
          <p:cNvPr id="11" name="Text 8"/>
          <p:cNvSpPr/>
          <p:nvPr/>
        </p:nvSpPr>
        <p:spPr>
          <a:xfrm>
            <a:off x="8153400" y="6263941"/>
            <a:ext cx="9261349" cy="1195388"/>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The legislation identified specific categories of healthcare services that qualify for this billing approach and the associated financial advantages for members. Elevate’s Digital Care Paths fall within these eligible categories.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7496"/>
          </a:solidFill>
          <a:ln/>
        </p:spPr>
        <p:txBody>
          <a:bodyPr/>
          <a:lstStyle/>
          <a:p>
            <a:endParaRPr lang="en-US"/>
          </a:p>
        </p:txBody>
      </p:sp>
      <p:sp>
        <p:nvSpPr>
          <p:cNvPr id="4" name="Text 2"/>
          <p:cNvSpPr/>
          <p:nvPr/>
        </p:nvSpPr>
        <p:spPr>
          <a:xfrm>
            <a:off x="1371600" y="914400"/>
            <a:ext cx="2450387" cy="310243"/>
          </a:xfrm>
          <a:prstGeom prst="rect">
            <a:avLst/>
          </a:prstGeom>
          <a:noFill/>
          <a:ln/>
        </p:spPr>
        <p:txBody>
          <a:bodyPr wrap="square" lIns="0" tIns="0" rIns="0" bIns="0" rtlCol="0" anchor="t">
            <a:normAutofit/>
          </a:bodyPr>
          <a:lstStyle/>
          <a:p>
            <a:pPr marL="0" indent="0" algn="l">
              <a:buNone/>
            </a:pPr>
            <a:r>
              <a:rPr lang="en-US" sz="1500" b="1" kern="0" spc="210" dirty="0">
                <a:solidFill>
                  <a:srgbClr val="007496"/>
                </a:solidFill>
                <a:latin typeface="Arial" pitchFamily="34" charset="0"/>
                <a:ea typeface="Arial" pitchFamily="34" charset="-122"/>
                <a:cs typeface="Arial" pitchFamily="34" charset="-120"/>
              </a:rPr>
              <a:t>THE EBB MODEL</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7496">
                    <a:alpha val="92000"/>
                  </a:srgbClr>
                </a:solidFill>
                <a:latin typeface="Arial" pitchFamily="34" charset="0"/>
                <a:ea typeface="Arial" pitchFamily="34" charset="-122"/>
                <a:cs typeface="Arial" pitchFamily="34" charset="-120"/>
              </a:rPr>
              <a:t>Q02</a:t>
            </a:r>
            <a:endParaRPr lang="en-US" sz="8250" dirty="0"/>
          </a:p>
        </p:txBody>
      </p:sp>
      <p:sp>
        <p:nvSpPr>
          <p:cNvPr id="6" name="Text 4"/>
          <p:cNvSpPr/>
          <p:nvPr/>
        </p:nvSpPr>
        <p:spPr>
          <a:xfrm>
            <a:off x="1143000" y="2662918"/>
            <a:ext cx="5712660" cy="180430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Are any health plans or carriers pushing back on this billing approach, or has it been broadly accepted?</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948113"/>
            <a:ext cx="228600" cy="228600"/>
          </a:xfrm>
          <a:prstGeom prst="rect">
            <a:avLst/>
          </a:prstGeom>
        </p:spPr>
      </p:pic>
      <p:sp>
        <p:nvSpPr>
          <p:cNvPr id="9" name="Text 6"/>
          <p:cNvSpPr/>
          <p:nvPr/>
        </p:nvSpPr>
        <p:spPr>
          <a:xfrm>
            <a:off x="8477251" y="3948113"/>
            <a:ext cx="1231828" cy="285750"/>
          </a:xfrm>
          <a:prstGeom prst="rect">
            <a:avLst/>
          </a:prstGeom>
          <a:noFill/>
          <a:ln/>
        </p:spPr>
        <p:txBody>
          <a:bodyPr wrap="square" lIns="0" tIns="0" rIns="0" bIns="0" rtlCol="0" anchor="t">
            <a:normAutofit/>
          </a:bodyPr>
          <a:lstStyle/>
          <a:p>
            <a:pPr marL="0" indent="0" algn="l">
              <a:buNone/>
            </a:pPr>
            <a:r>
              <a:rPr lang="en-US" sz="1275" b="1" kern="0" spc="153" dirty="0">
                <a:solidFill>
                  <a:srgbClr val="007496"/>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386263"/>
            <a:ext cx="9261349" cy="10668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000" b="1" dirty="0">
                <a:solidFill>
                  <a:srgbClr val="1F2429"/>
                </a:solidFill>
                <a:latin typeface="Arial" pitchFamily="34" charset="0"/>
                <a:ea typeface="Arial" pitchFamily="34" charset="-122"/>
                <a:cs typeface="Arial" pitchFamily="34" charset="-120"/>
              </a:rPr>
              <a:t>The Engagement-Based Billing approach is a proven and widely adopted model among carriers.</a:t>
            </a:r>
            <a:endParaRPr lang="en-US" sz="3000" dirty="0"/>
          </a:p>
        </p:txBody>
      </p:sp>
      <p:sp>
        <p:nvSpPr>
          <p:cNvPr id="11" name="Text 8"/>
          <p:cNvSpPr/>
          <p:nvPr/>
        </p:nvSpPr>
        <p:spPr>
          <a:xfrm>
            <a:off x="8153401" y="5605463"/>
            <a:ext cx="9261349" cy="8096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It is currently utilized by multiple point solution providers, demonstrating broad market acceptance and operational viability.</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7496"/>
          </a:solidFill>
          <a:ln/>
        </p:spPr>
        <p:txBody>
          <a:bodyPr/>
          <a:lstStyle/>
          <a:p>
            <a:endParaRPr lang="en-US"/>
          </a:p>
        </p:txBody>
      </p:sp>
      <p:sp>
        <p:nvSpPr>
          <p:cNvPr id="4" name="Text 2"/>
          <p:cNvSpPr/>
          <p:nvPr/>
        </p:nvSpPr>
        <p:spPr>
          <a:xfrm>
            <a:off x="1371600" y="914400"/>
            <a:ext cx="2033365" cy="410966"/>
          </a:xfrm>
          <a:prstGeom prst="rect">
            <a:avLst/>
          </a:prstGeom>
          <a:noFill/>
          <a:ln/>
        </p:spPr>
        <p:txBody>
          <a:bodyPr wrap="square" lIns="0" tIns="0" rIns="0" bIns="0" rtlCol="0" anchor="t">
            <a:normAutofit/>
          </a:bodyPr>
          <a:lstStyle/>
          <a:p>
            <a:pPr marL="0" indent="0" algn="l">
              <a:buNone/>
            </a:pPr>
            <a:r>
              <a:rPr lang="en-US" sz="1500" b="1" kern="0" spc="210" dirty="0">
                <a:solidFill>
                  <a:srgbClr val="007496"/>
                </a:solidFill>
                <a:latin typeface="Arial" pitchFamily="34" charset="0"/>
                <a:ea typeface="Arial" pitchFamily="34" charset="-122"/>
                <a:cs typeface="Arial" pitchFamily="34" charset="-120"/>
              </a:rPr>
              <a:t>THE EBB MODEL</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7496">
                    <a:alpha val="92000"/>
                  </a:srgbClr>
                </a:solidFill>
                <a:latin typeface="Arial" pitchFamily="34" charset="0"/>
                <a:ea typeface="Arial" pitchFamily="34" charset="-122"/>
                <a:cs typeface="Arial" pitchFamily="34" charset="-120"/>
              </a:rPr>
              <a:t>Q03</a:t>
            </a:r>
            <a:endParaRPr lang="en-US" sz="8250" dirty="0"/>
          </a:p>
        </p:txBody>
      </p:sp>
      <p:sp>
        <p:nvSpPr>
          <p:cNvPr id="6" name="Text 4"/>
          <p:cNvSpPr/>
          <p:nvPr/>
        </p:nvSpPr>
        <p:spPr>
          <a:xfrm>
            <a:off x="1143000" y="2662918"/>
            <a:ext cx="5712660" cy="921204"/>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How many clients are using EBB today?</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2620396"/>
            <a:ext cx="228600" cy="228600"/>
          </a:xfrm>
          <a:prstGeom prst="rect">
            <a:avLst/>
          </a:prstGeom>
        </p:spPr>
      </p:pic>
      <p:sp>
        <p:nvSpPr>
          <p:cNvPr id="9" name="Text 6"/>
          <p:cNvSpPr/>
          <p:nvPr/>
        </p:nvSpPr>
        <p:spPr>
          <a:xfrm>
            <a:off x="8477251" y="2620396"/>
            <a:ext cx="1174402" cy="285750"/>
          </a:xfrm>
          <a:prstGeom prst="rect">
            <a:avLst/>
          </a:prstGeom>
          <a:noFill/>
          <a:ln/>
        </p:spPr>
        <p:txBody>
          <a:bodyPr wrap="square" lIns="0" tIns="0" rIns="0" bIns="0" rtlCol="0" anchor="t">
            <a:normAutofit/>
          </a:bodyPr>
          <a:lstStyle/>
          <a:p>
            <a:pPr marL="0" indent="0" algn="l">
              <a:buNone/>
            </a:pPr>
            <a:r>
              <a:rPr lang="en-US" sz="1275" b="1" kern="0" spc="153" dirty="0">
                <a:solidFill>
                  <a:srgbClr val="007496"/>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058546"/>
            <a:ext cx="9261349" cy="158115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EBB is a newly launched offering, enabled in part by the federal budget reconciliation bill passed in 2025, which expanded opportunities for certain digital healthcare services to be reimbursed as covered claims eligible for first-dollar coverage.</a:t>
            </a:r>
            <a:endParaRPr lang="en-US" sz="2025" dirty="0"/>
          </a:p>
        </p:txBody>
      </p:sp>
      <p:sp>
        <p:nvSpPr>
          <p:cNvPr id="11" name="Text 8"/>
          <p:cNvSpPr/>
          <p:nvPr/>
        </p:nvSpPr>
        <p:spPr>
          <a:xfrm>
            <a:off x="8137071" y="4929999"/>
            <a:ext cx="9261349" cy="1217159"/>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While there are no employers currently operating under this structure with Elevate (Mobile Health), </a:t>
            </a:r>
            <a:r>
              <a:rPr lang="en-US" sz="2000" b="1" dirty="0">
                <a:solidFill>
                  <a:srgbClr val="1F2429"/>
                </a:solidFill>
                <a:latin typeface="Arial" pitchFamily="34" charset="0"/>
                <a:ea typeface="Arial" pitchFamily="34" charset="-122"/>
                <a:cs typeface="Arial" pitchFamily="34" charset="-120"/>
              </a:rPr>
              <a:t>multiple organizations are expected to go live with EBB in 2027.</a:t>
            </a:r>
            <a:endParaRPr lang="en-US" sz="2000" dirty="0"/>
          </a:p>
        </p:txBody>
      </p:sp>
      <p:sp>
        <p:nvSpPr>
          <p:cNvPr id="12" name="Text 9"/>
          <p:cNvSpPr/>
          <p:nvPr/>
        </p:nvSpPr>
        <p:spPr>
          <a:xfrm>
            <a:off x="8153401" y="6437461"/>
            <a:ext cx="9261349" cy="15811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To date, employers offering Elevate’s Digital Care Programs have done so through a traditional Per Employee Per Month (PEPM) arrangement. EBB represents an evolution in aligning costs more closely with member engagement, clinical outcomes, and delivered value.</a:t>
            </a:r>
            <a:endParaRPr lang="en-US" sz="20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3DF"/>
        </a:solidFill>
        <a:effectLst/>
      </p:bgPr>
    </p:bg>
    <p:spTree>
      <p:nvGrpSpPr>
        <p:cNvPr id="1" name=""/>
        <p:cNvGrpSpPr/>
        <p:nvPr/>
      </p:nvGrpSpPr>
      <p:grpSpPr>
        <a:xfrm>
          <a:off x="0" y="0"/>
          <a:ext cx="0" cy="0"/>
          <a:chOff x="0" y="0"/>
          <a:chExt cx="0" cy="0"/>
        </a:xfrm>
      </p:grpSpPr>
      <p:sp>
        <p:nvSpPr>
          <p:cNvPr id="2" name="Shape 0"/>
          <p:cNvSpPr/>
          <p:nvPr/>
        </p:nvSpPr>
        <p:spPr>
          <a:xfrm>
            <a:off x="1143000" y="3365302"/>
            <a:ext cx="914400" cy="914400"/>
          </a:xfrm>
          <a:prstGeom prst="roundRect">
            <a:avLst>
              <a:gd name="adj" fmla="val 27083"/>
            </a:avLst>
          </a:prstGeom>
          <a:solidFill>
            <a:srgbClr val="E9A92C"/>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485900" y="3708202"/>
            <a:ext cx="228600" cy="228600"/>
          </a:xfrm>
          <a:prstGeom prst="rect">
            <a:avLst/>
          </a:prstGeom>
        </p:spPr>
      </p:pic>
      <p:sp>
        <p:nvSpPr>
          <p:cNvPr id="4" name="Text 1"/>
          <p:cNvSpPr/>
          <p:nvPr/>
        </p:nvSpPr>
        <p:spPr>
          <a:xfrm>
            <a:off x="1143000" y="4660702"/>
            <a:ext cx="16482061" cy="446314"/>
          </a:xfrm>
          <a:prstGeom prst="rect">
            <a:avLst/>
          </a:prstGeom>
          <a:noFill/>
          <a:ln/>
        </p:spPr>
        <p:txBody>
          <a:bodyPr wrap="square" lIns="25400" tIns="25400" rIns="25400" bIns="25400" rtlCol="0" anchor="t">
            <a:normAutofit/>
          </a:bodyPr>
          <a:lstStyle/>
          <a:p>
            <a:pPr marL="0" indent="0" algn="l">
              <a:buNone/>
            </a:pPr>
            <a:r>
              <a:rPr lang="en-US" sz="2250" b="1" kern="0" spc="90" dirty="0">
                <a:solidFill>
                  <a:srgbClr val="E9A92C"/>
                </a:solidFill>
                <a:latin typeface="Arial" pitchFamily="34" charset="0"/>
                <a:ea typeface="Arial" pitchFamily="34" charset="-122"/>
                <a:cs typeface="Arial" pitchFamily="34" charset="-120"/>
              </a:rPr>
              <a:t>02</a:t>
            </a:r>
            <a:endParaRPr lang="en-US" sz="2250" dirty="0"/>
          </a:p>
        </p:txBody>
      </p:sp>
      <p:sp>
        <p:nvSpPr>
          <p:cNvPr id="5" name="Text 2"/>
          <p:cNvSpPr/>
          <p:nvPr/>
        </p:nvSpPr>
        <p:spPr>
          <a:xfrm>
            <a:off x="1143000" y="5240366"/>
            <a:ext cx="9681546" cy="862183"/>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6300" b="1" kern="0" spc="-126" dirty="0">
                <a:solidFill>
                  <a:srgbClr val="1F2429"/>
                </a:solidFill>
                <a:latin typeface="Arial" pitchFamily="34" charset="0"/>
                <a:ea typeface="Arial" pitchFamily="34" charset="-122"/>
                <a:cs typeface="Arial" pitchFamily="34" charset="-120"/>
              </a:rPr>
              <a:t>Revenue &amp; Billing</a:t>
            </a:r>
            <a:endParaRPr lang="en-US" sz="6300" dirty="0"/>
          </a:p>
        </p:txBody>
      </p:sp>
      <p:sp>
        <p:nvSpPr>
          <p:cNvPr id="6" name="Text 3"/>
          <p:cNvSpPr/>
          <p:nvPr/>
        </p:nvSpPr>
        <p:spPr>
          <a:xfrm>
            <a:off x="1142999" y="6312098"/>
            <a:ext cx="9346915" cy="647700"/>
          </a:xfrm>
          <a:prstGeom prst="rect">
            <a:avLst/>
          </a:prstGeom>
          <a:noFill/>
          <a:ln/>
        </p:spPr>
        <p:txBody>
          <a:bodyPr wrap="square" lIns="25400" tIns="25400" rIns="25400" bIns="25400" rtlCol="0" anchor="t">
            <a:normAutofit/>
          </a:bodyPr>
          <a:lstStyle/>
          <a:p>
            <a:pPr marL="0" indent="0" algn="l">
              <a:buNone/>
            </a:pPr>
            <a:r>
              <a:rPr lang="en-US" sz="2100" dirty="0">
                <a:solidFill>
                  <a:srgbClr val="4E565E"/>
                </a:solidFill>
                <a:latin typeface="Arial" pitchFamily="34" charset="0"/>
                <a:ea typeface="Arial" pitchFamily="34" charset="-122"/>
                <a:cs typeface="Arial" pitchFamily="34" charset="-120"/>
              </a:rPr>
              <a:t>The economics, the split, and how and when claims are submitted.</a:t>
            </a:r>
            <a:endParaRPr lang="en-US" sz="2100" dirty="0"/>
          </a:p>
        </p:txBody>
      </p:sp>
      <p:sp>
        <p:nvSpPr>
          <p:cNvPr id="7" name="Text 4"/>
          <p:cNvSpPr/>
          <p:nvPr/>
        </p:nvSpPr>
        <p:spPr>
          <a:xfrm>
            <a:off x="16088831" y="9116786"/>
            <a:ext cx="1132369" cy="332014"/>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E9A92C"/>
                </a:solidFill>
                <a:latin typeface="Arial" pitchFamily="34" charset="0"/>
                <a:ea typeface="Arial" pitchFamily="34" charset="-122"/>
                <a:cs typeface="Arial" pitchFamily="34" charset="-120"/>
              </a:rPr>
              <a:t>5 questions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9A92C"/>
          </a:solidFill>
          <a:ln/>
        </p:spPr>
        <p:txBody>
          <a:bodyPr/>
          <a:lstStyle/>
          <a:p>
            <a:endParaRPr lang="en-US"/>
          </a:p>
        </p:txBody>
      </p:sp>
      <p:sp>
        <p:nvSpPr>
          <p:cNvPr id="4" name="Text 2"/>
          <p:cNvSpPr/>
          <p:nvPr/>
        </p:nvSpPr>
        <p:spPr>
          <a:xfrm>
            <a:off x="1371600" y="914400"/>
            <a:ext cx="2588170" cy="441789"/>
          </a:xfrm>
          <a:prstGeom prst="rect">
            <a:avLst/>
          </a:prstGeom>
          <a:noFill/>
          <a:ln/>
        </p:spPr>
        <p:txBody>
          <a:bodyPr wrap="square" lIns="0" tIns="0" rIns="0" bIns="0" rtlCol="0" anchor="t">
            <a:normAutofit/>
          </a:bodyPr>
          <a:lstStyle/>
          <a:p>
            <a:pPr marL="0" indent="0" algn="l">
              <a:buNone/>
            </a:pPr>
            <a:r>
              <a:rPr lang="en-US" sz="1500" b="1" kern="0" spc="210" dirty="0">
                <a:solidFill>
                  <a:srgbClr val="E9A92C"/>
                </a:solidFill>
                <a:latin typeface="Arial" pitchFamily="34" charset="0"/>
                <a:ea typeface="Arial" pitchFamily="34" charset="-122"/>
                <a:cs typeface="Arial" pitchFamily="34" charset="-120"/>
              </a:rPr>
              <a:t>REVENUE &amp; BILLING</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9A92C">
                    <a:alpha val="92000"/>
                  </a:srgbClr>
                </a:solidFill>
                <a:latin typeface="Arial" pitchFamily="34" charset="0"/>
                <a:ea typeface="Arial" pitchFamily="34" charset="-122"/>
                <a:cs typeface="Arial" pitchFamily="34" charset="-120"/>
              </a:rPr>
              <a:t>Q04</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What percentage does bswift receive in revenue, and how does it work?</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899127"/>
            <a:ext cx="228600" cy="228600"/>
          </a:xfrm>
          <a:prstGeom prst="rect">
            <a:avLst/>
          </a:prstGeom>
        </p:spPr>
      </p:pic>
      <p:sp>
        <p:nvSpPr>
          <p:cNvPr id="9" name="Text 6"/>
          <p:cNvSpPr/>
          <p:nvPr/>
        </p:nvSpPr>
        <p:spPr>
          <a:xfrm>
            <a:off x="8477251" y="3899127"/>
            <a:ext cx="1529778" cy="266700"/>
          </a:xfrm>
          <a:prstGeom prst="rect">
            <a:avLst/>
          </a:prstGeom>
          <a:noFill/>
          <a:ln/>
        </p:spPr>
        <p:txBody>
          <a:bodyPr wrap="square" lIns="0" tIns="0" rIns="0" bIns="0" rtlCol="0" anchor="t">
            <a:normAutofit/>
          </a:bodyPr>
          <a:lstStyle/>
          <a:p>
            <a:pPr marL="0" indent="0" algn="l">
              <a:buNone/>
            </a:pPr>
            <a:r>
              <a:rPr lang="en-US" sz="1275" b="1" kern="0" spc="153" dirty="0">
                <a:solidFill>
                  <a:srgbClr val="E9A92C"/>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337277"/>
            <a:ext cx="9261349" cy="1983921"/>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Each Elevate DCP runs for approximately 10 weeks at an Episode of Care cost of </a:t>
            </a:r>
            <a:r>
              <a:rPr lang="en-US" sz="2000" b="1" dirty="0">
                <a:solidFill>
                  <a:srgbClr val="1F2429"/>
                </a:solidFill>
                <a:latin typeface="Arial" pitchFamily="34" charset="0"/>
                <a:ea typeface="Arial" pitchFamily="34" charset="-122"/>
                <a:cs typeface="Arial" pitchFamily="34" charset="-120"/>
              </a:rPr>
              <a:t>$475 </a:t>
            </a:r>
            <a:r>
              <a:rPr lang="en-US" sz="2000" dirty="0">
                <a:solidFill>
                  <a:srgbClr val="4E565E"/>
                </a:solidFill>
                <a:latin typeface="Arial" pitchFamily="34" charset="0"/>
                <a:ea typeface="Arial" pitchFamily="34" charset="-122"/>
                <a:cs typeface="Arial" pitchFamily="34" charset="-120"/>
              </a:rPr>
              <a:t>. From that claim, Mobile Health pays the user an incentive of </a:t>
            </a:r>
            <a:r>
              <a:rPr lang="en-US" sz="2000" b="1" dirty="0">
                <a:solidFill>
                  <a:srgbClr val="1F2429"/>
                </a:solidFill>
                <a:latin typeface="Arial" pitchFamily="34" charset="0"/>
                <a:ea typeface="Arial" pitchFamily="34" charset="-122"/>
                <a:cs typeface="Arial" pitchFamily="34" charset="-120"/>
              </a:rPr>
              <a:t>$100 </a:t>
            </a:r>
            <a:r>
              <a:rPr lang="en-US" sz="2000" dirty="0">
                <a:solidFill>
                  <a:srgbClr val="4E565E"/>
                </a:solidFill>
                <a:latin typeface="Arial" pitchFamily="34" charset="0"/>
                <a:ea typeface="Arial" pitchFamily="34" charset="-122"/>
                <a:cs typeface="Arial" pitchFamily="34" charset="-120"/>
              </a:rPr>
              <a:t>upon completion of the module. The remaining </a:t>
            </a:r>
            <a:r>
              <a:rPr lang="en-US" sz="2000" b="1" dirty="0">
                <a:solidFill>
                  <a:srgbClr val="1F2429"/>
                </a:solidFill>
                <a:latin typeface="Arial" pitchFamily="34" charset="0"/>
                <a:ea typeface="Arial" pitchFamily="34" charset="-122"/>
                <a:cs typeface="Arial" pitchFamily="34" charset="-120"/>
              </a:rPr>
              <a:t>$375 </a:t>
            </a:r>
            <a:r>
              <a:rPr lang="en-US" sz="2000" dirty="0">
                <a:solidFill>
                  <a:srgbClr val="4E565E"/>
                </a:solidFill>
                <a:latin typeface="Arial" pitchFamily="34" charset="0"/>
                <a:ea typeface="Arial" pitchFamily="34" charset="-122"/>
                <a:cs typeface="Arial" pitchFamily="34" charset="-120"/>
              </a:rPr>
              <a:t>is split 15% to bswift and 85% to Mobile Health. Each completed module pays </a:t>
            </a:r>
            <a:r>
              <a:rPr lang="en-US" sz="2000" b="1" dirty="0">
                <a:solidFill>
                  <a:srgbClr val="1F2429"/>
                </a:solidFill>
                <a:latin typeface="Arial" pitchFamily="34" charset="0"/>
                <a:ea typeface="Arial" pitchFamily="34" charset="-122"/>
                <a:cs typeface="Arial" pitchFamily="34" charset="-120"/>
              </a:rPr>
              <a:t>bswift $56.25 </a:t>
            </a:r>
            <a:r>
              <a:rPr lang="en-US" sz="2000" dirty="0">
                <a:solidFill>
                  <a:srgbClr val="4E565E"/>
                </a:solidFill>
                <a:latin typeface="Arial" pitchFamily="34" charset="0"/>
                <a:ea typeface="Arial" pitchFamily="34" charset="-122"/>
                <a:cs typeface="Arial" pitchFamily="34" charset="-120"/>
              </a:rPr>
              <a:t>. At 20% engagement (a conservative engagement estimate), this would represent a nearly </a:t>
            </a:r>
            <a:r>
              <a:rPr lang="en-US" sz="2000" b="1" dirty="0">
                <a:solidFill>
                  <a:srgbClr val="1F2429"/>
                </a:solidFill>
                <a:latin typeface="Arial" pitchFamily="34" charset="0"/>
                <a:ea typeface="Arial" pitchFamily="34" charset="-122"/>
                <a:cs typeface="Arial" pitchFamily="34" charset="-120"/>
              </a:rPr>
              <a:t>500% increase </a:t>
            </a:r>
            <a:r>
              <a:rPr lang="en-US" sz="2000" dirty="0">
                <a:solidFill>
                  <a:srgbClr val="4E565E"/>
                </a:solidFill>
                <a:latin typeface="Arial" pitchFamily="34" charset="0"/>
                <a:ea typeface="Arial" pitchFamily="34" charset="-122"/>
                <a:cs typeface="Arial" pitchFamily="34" charset="-120"/>
              </a:rPr>
              <a:t>in revenue to bswift over the traditional PEPM split.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9A92C"/>
          </a:solidFill>
          <a:ln/>
        </p:spPr>
        <p:txBody>
          <a:bodyPr/>
          <a:lstStyle/>
          <a:p>
            <a:endParaRPr lang="en-US"/>
          </a:p>
        </p:txBody>
      </p:sp>
      <p:sp>
        <p:nvSpPr>
          <p:cNvPr id="4" name="Text 2"/>
          <p:cNvSpPr/>
          <p:nvPr/>
        </p:nvSpPr>
        <p:spPr>
          <a:xfrm>
            <a:off x="1371600" y="914400"/>
            <a:ext cx="2690911" cy="441789"/>
          </a:xfrm>
          <a:prstGeom prst="rect">
            <a:avLst/>
          </a:prstGeom>
          <a:noFill/>
          <a:ln/>
        </p:spPr>
        <p:txBody>
          <a:bodyPr wrap="square" lIns="0" tIns="0" rIns="0" bIns="0" rtlCol="0" anchor="t">
            <a:normAutofit/>
          </a:bodyPr>
          <a:lstStyle/>
          <a:p>
            <a:pPr marL="0" indent="0" algn="l">
              <a:buNone/>
            </a:pPr>
            <a:r>
              <a:rPr lang="en-US" sz="1500" b="1" kern="0" spc="210" dirty="0">
                <a:solidFill>
                  <a:srgbClr val="E9A92C"/>
                </a:solidFill>
                <a:latin typeface="Arial" pitchFamily="34" charset="0"/>
                <a:ea typeface="Arial" pitchFamily="34" charset="-122"/>
                <a:cs typeface="Arial" pitchFamily="34" charset="-120"/>
              </a:rPr>
              <a:t>REVENUE &amp; BILLING</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9A92C">
                    <a:alpha val="92000"/>
                  </a:srgbClr>
                </a:solidFill>
                <a:latin typeface="Arial" pitchFamily="34" charset="0"/>
                <a:ea typeface="Arial" pitchFamily="34" charset="-122"/>
                <a:cs typeface="Arial" pitchFamily="34" charset="-120"/>
              </a:rPr>
              <a:t>Q05</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Are employers realizing actual cost savings, or are costs simply being shifted?</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2996633"/>
            <a:ext cx="228600" cy="228600"/>
          </a:xfrm>
          <a:prstGeom prst="rect">
            <a:avLst/>
          </a:prstGeom>
        </p:spPr>
      </p:pic>
      <p:sp>
        <p:nvSpPr>
          <p:cNvPr id="9" name="Text 6"/>
          <p:cNvSpPr/>
          <p:nvPr/>
        </p:nvSpPr>
        <p:spPr>
          <a:xfrm>
            <a:off x="8477251" y="2996632"/>
            <a:ext cx="3748996" cy="380999"/>
          </a:xfrm>
          <a:prstGeom prst="rect">
            <a:avLst/>
          </a:prstGeom>
          <a:noFill/>
          <a:ln/>
        </p:spPr>
        <p:txBody>
          <a:bodyPr wrap="square" lIns="0" tIns="0" rIns="0" bIns="0" rtlCol="0" anchor="t">
            <a:normAutofit/>
          </a:bodyPr>
          <a:lstStyle/>
          <a:p>
            <a:pPr marL="0" indent="0" algn="l">
              <a:buNone/>
            </a:pPr>
            <a:r>
              <a:rPr lang="en-US" sz="1275" b="1" kern="0" spc="153" dirty="0">
                <a:solidFill>
                  <a:srgbClr val="E9A92C"/>
                </a:solidFill>
                <a:latin typeface="Arial" pitchFamily="34" charset="0"/>
                <a:ea typeface="Arial" pitchFamily="34" charset="-122"/>
                <a:cs typeface="Arial" pitchFamily="34" charset="-120"/>
              </a:rPr>
              <a:t>EMPLOYERS SAVE IN TWO WAYS</a:t>
            </a:r>
            <a:endParaRPr lang="en-US" sz="1275" dirty="0"/>
          </a:p>
        </p:txBody>
      </p:sp>
      <p:sp>
        <p:nvSpPr>
          <p:cNvPr id="10" name="Shape 7"/>
          <p:cNvSpPr/>
          <p:nvPr/>
        </p:nvSpPr>
        <p:spPr>
          <a:xfrm>
            <a:off x="8153401" y="3510983"/>
            <a:ext cx="381000" cy="381000"/>
          </a:xfrm>
          <a:prstGeom prst="ellipse">
            <a:avLst/>
          </a:prstGeom>
          <a:solidFill>
            <a:srgbClr val="E9A92C"/>
          </a:solidFill>
          <a:ln/>
        </p:spPr>
        <p:txBody>
          <a:bodyPr/>
          <a:lstStyle/>
          <a:p>
            <a:endParaRPr lang="en-US"/>
          </a:p>
        </p:txBody>
      </p:sp>
      <p:sp>
        <p:nvSpPr>
          <p:cNvPr id="11" name="Text 8"/>
          <p:cNvSpPr/>
          <p:nvPr/>
        </p:nvSpPr>
        <p:spPr>
          <a:xfrm>
            <a:off x="8115301" y="3510983"/>
            <a:ext cx="457200" cy="419100"/>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p:nvPr/>
        </p:nvSpPr>
        <p:spPr>
          <a:xfrm>
            <a:off x="8705851" y="3422536"/>
            <a:ext cx="8692325" cy="1206273"/>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In-network claims that would traditionally be incurred in the community are redirected to Elevate’s Digital Care Paths, which deliver comparable support at </a:t>
            </a:r>
            <a:r>
              <a:rPr lang="en-US" sz="2000" b="1" dirty="0">
                <a:solidFill>
                  <a:srgbClr val="1F2429"/>
                </a:solidFill>
                <a:latin typeface="Arial" pitchFamily="34" charset="0"/>
                <a:ea typeface="Arial" pitchFamily="34" charset="-122"/>
                <a:cs typeface="Arial" pitchFamily="34" charset="-120"/>
              </a:rPr>
              <a:t>60–70% lower cost</a:t>
            </a:r>
            <a:r>
              <a:rPr lang="en-US" sz="2000" dirty="0">
                <a:solidFill>
                  <a:srgbClr val="4E565E"/>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8153401" y="4831557"/>
            <a:ext cx="381000" cy="381000"/>
          </a:xfrm>
          <a:prstGeom prst="ellipse">
            <a:avLst/>
          </a:prstGeom>
          <a:solidFill>
            <a:srgbClr val="E9A92C"/>
          </a:solidFill>
          <a:ln/>
        </p:spPr>
        <p:txBody>
          <a:bodyPr/>
          <a:lstStyle/>
          <a:p>
            <a:endParaRPr lang="en-US"/>
          </a:p>
        </p:txBody>
      </p:sp>
      <p:sp>
        <p:nvSpPr>
          <p:cNvPr id="14" name="Text 11"/>
          <p:cNvSpPr/>
          <p:nvPr/>
        </p:nvSpPr>
        <p:spPr>
          <a:xfrm>
            <a:off x="8115301" y="4831557"/>
            <a:ext cx="457200" cy="419100"/>
          </a:xfrm>
          <a:prstGeom prst="rect">
            <a:avLst/>
          </a:prstGeom>
          <a:noFill/>
          <a:ln/>
        </p:spPr>
        <p:txBody>
          <a:bodyPr wrap="square" lIns="25400" tIns="25400" rIns="25400" bIns="25400" rtlCol="0" anchor="ctr">
            <a:normAutofit/>
          </a:bodyP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p:nvPr/>
        </p:nvSpPr>
        <p:spPr>
          <a:xfrm>
            <a:off x="8705851" y="4812507"/>
            <a:ext cx="8692325" cy="119538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Employers can reduce or eliminate spend on standalone point solutions that Elevate’s integrated DCPs replace — lowering overall benefits costs and simplifying the experience.</a:t>
            </a:r>
            <a:endParaRPr lang="en-US" sz="2025" dirty="0"/>
          </a:p>
        </p:txBody>
      </p:sp>
      <p:sp>
        <p:nvSpPr>
          <p:cNvPr id="16" name="Text 13"/>
          <p:cNvSpPr/>
          <p:nvPr/>
        </p:nvSpPr>
        <p:spPr>
          <a:xfrm>
            <a:off x="8705851" y="6447971"/>
            <a:ext cx="9261349" cy="1206273"/>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Employees benefit too: DCPs are first-dollar coverage with a </a:t>
            </a:r>
            <a:r>
              <a:rPr lang="en-US" sz="2000" b="1" dirty="0">
                <a:solidFill>
                  <a:srgbClr val="1F2429"/>
                </a:solidFill>
                <a:latin typeface="Arial" pitchFamily="34" charset="0"/>
                <a:ea typeface="Arial" pitchFamily="34" charset="-122"/>
                <a:cs typeface="Arial" pitchFamily="34" charset="-120"/>
              </a:rPr>
              <a:t>$0 copay </a:t>
            </a:r>
            <a:r>
              <a:rPr lang="en-US" sz="2000" dirty="0">
                <a:solidFill>
                  <a:srgbClr val="4E565E"/>
                </a:solidFill>
                <a:latin typeface="Arial" pitchFamily="34" charset="0"/>
                <a:ea typeface="Arial" pitchFamily="34" charset="-122"/>
                <a:cs typeface="Arial" pitchFamily="34" charset="-120"/>
              </a:rPr>
              <a:t>, so members incur no out-of-pocket cost — a key driver of engagement and outcomes.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9A92C"/>
          </a:solidFill>
          <a:ln/>
        </p:spPr>
        <p:txBody>
          <a:bodyPr/>
          <a:lstStyle/>
          <a:p>
            <a:endParaRPr lang="en-US"/>
          </a:p>
        </p:txBody>
      </p:sp>
      <p:sp>
        <p:nvSpPr>
          <p:cNvPr id="4" name="Text 2"/>
          <p:cNvSpPr/>
          <p:nvPr/>
        </p:nvSpPr>
        <p:spPr>
          <a:xfrm>
            <a:off x="1371600" y="914400"/>
            <a:ext cx="2639541" cy="431515"/>
          </a:xfrm>
          <a:prstGeom prst="rect">
            <a:avLst/>
          </a:prstGeom>
          <a:noFill/>
          <a:ln/>
        </p:spPr>
        <p:txBody>
          <a:bodyPr wrap="square" lIns="0" tIns="0" rIns="0" bIns="0" rtlCol="0" anchor="t">
            <a:normAutofit/>
          </a:bodyPr>
          <a:lstStyle/>
          <a:p>
            <a:pPr marL="0" indent="0" algn="l">
              <a:buNone/>
            </a:pPr>
            <a:r>
              <a:rPr lang="en-US" sz="1500" b="1" kern="0" spc="210" dirty="0">
                <a:solidFill>
                  <a:srgbClr val="E9A92C"/>
                </a:solidFill>
                <a:latin typeface="Arial" pitchFamily="34" charset="0"/>
                <a:ea typeface="Arial" pitchFamily="34" charset="-122"/>
                <a:cs typeface="Arial" pitchFamily="34" charset="-120"/>
              </a:rPr>
              <a:t>REVENUE &amp; BILLING</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9A92C">
                    <a:alpha val="92000"/>
                  </a:srgbClr>
                </a:solidFill>
                <a:latin typeface="Arial" pitchFamily="34" charset="0"/>
                <a:ea typeface="Arial" pitchFamily="34" charset="-122"/>
                <a:cs typeface="Arial" pitchFamily="34" charset="-120"/>
              </a:rPr>
              <a:t>Q06</a:t>
            </a:r>
            <a:endParaRPr lang="en-US" sz="8250" dirty="0"/>
          </a:p>
        </p:txBody>
      </p:sp>
      <p:sp>
        <p:nvSpPr>
          <p:cNvPr id="6" name="Text 4"/>
          <p:cNvSpPr/>
          <p:nvPr/>
        </p:nvSpPr>
        <p:spPr>
          <a:xfrm>
            <a:off x="1143000" y="2662918"/>
            <a:ext cx="5712660" cy="921204"/>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When is the billing / invoice sent to the carrier?</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948113"/>
            <a:ext cx="228600" cy="228600"/>
          </a:xfrm>
          <a:prstGeom prst="rect">
            <a:avLst/>
          </a:prstGeom>
        </p:spPr>
      </p:pic>
      <p:sp>
        <p:nvSpPr>
          <p:cNvPr id="9" name="Text 6"/>
          <p:cNvSpPr/>
          <p:nvPr/>
        </p:nvSpPr>
        <p:spPr>
          <a:xfrm>
            <a:off x="8477251" y="3948113"/>
            <a:ext cx="1683891" cy="285750"/>
          </a:xfrm>
          <a:prstGeom prst="rect">
            <a:avLst/>
          </a:prstGeom>
          <a:noFill/>
          <a:ln/>
        </p:spPr>
        <p:txBody>
          <a:bodyPr wrap="square" lIns="0" tIns="0" rIns="0" bIns="0" rtlCol="0" anchor="t">
            <a:normAutofit/>
          </a:bodyPr>
          <a:lstStyle/>
          <a:p>
            <a:pPr marL="0" indent="0" algn="l">
              <a:buNone/>
            </a:pPr>
            <a:r>
              <a:rPr lang="en-US" sz="1275" b="1" kern="0" spc="153" dirty="0">
                <a:solidFill>
                  <a:srgbClr val="E9A92C"/>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386263"/>
            <a:ext cx="9261349" cy="1066800"/>
          </a:xfrm>
          <a:prstGeom prst="rect">
            <a:avLst/>
          </a:prstGeom>
          <a:noFill/>
          <a:ln/>
        </p:spPr>
        <p:txBody>
          <a:bodyPr wrap="square" lIns="25400" tIns="25400" rIns="25400" bIns="25400" rtlCol="0" anchor="t">
            <a:noAutofit/>
          </a:bodyPr>
          <a:lstStyle/>
          <a:p>
            <a:pPr marL="0" indent="0" algn="l">
              <a:lnSpc>
                <a:spcPct val="135000"/>
              </a:lnSpc>
              <a:buNone/>
            </a:pPr>
            <a:r>
              <a:rPr lang="en-US" sz="2800" b="1" dirty="0">
                <a:solidFill>
                  <a:srgbClr val="1F2429"/>
                </a:solidFill>
                <a:latin typeface="Arial" pitchFamily="34" charset="0"/>
                <a:ea typeface="Arial" pitchFamily="34" charset="-122"/>
                <a:cs typeface="Arial" pitchFamily="34" charset="-120"/>
              </a:rPr>
              <a:t>Based on member engagement activity, Mobile Health submits claims on a weekly or bi-weekly basis.</a:t>
            </a:r>
            <a:endParaRPr lang="en-US" sz="2800" dirty="0"/>
          </a:p>
        </p:txBody>
      </p:sp>
      <p:sp>
        <p:nvSpPr>
          <p:cNvPr id="11" name="Text 8"/>
          <p:cNvSpPr/>
          <p:nvPr/>
        </p:nvSpPr>
        <p:spPr>
          <a:xfrm>
            <a:off x="8153400" y="5605463"/>
            <a:ext cx="9261349" cy="809625"/>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Upon receipt of claim payment, bswift receives its agreed-upon 15% revenue share of the collected amount.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9A92C"/>
          </a:solidFill>
          <a:ln/>
        </p:spPr>
        <p:txBody>
          <a:bodyPr/>
          <a:lstStyle/>
          <a:p>
            <a:endParaRPr lang="en-US"/>
          </a:p>
        </p:txBody>
      </p:sp>
      <p:sp>
        <p:nvSpPr>
          <p:cNvPr id="4" name="Text 2"/>
          <p:cNvSpPr/>
          <p:nvPr/>
        </p:nvSpPr>
        <p:spPr>
          <a:xfrm>
            <a:off x="1371600" y="914400"/>
            <a:ext cx="3036013" cy="538843"/>
          </a:xfrm>
          <a:prstGeom prst="rect">
            <a:avLst/>
          </a:prstGeom>
          <a:noFill/>
          <a:ln/>
        </p:spPr>
        <p:txBody>
          <a:bodyPr wrap="square" lIns="0" tIns="0" rIns="0" bIns="0" rtlCol="0" anchor="t">
            <a:normAutofit/>
          </a:bodyPr>
          <a:lstStyle/>
          <a:p>
            <a:pPr marL="0" indent="0" algn="l">
              <a:buNone/>
            </a:pPr>
            <a:r>
              <a:rPr lang="en-US" sz="1500" b="1" kern="0" spc="210" dirty="0">
                <a:solidFill>
                  <a:srgbClr val="E9A92C"/>
                </a:solidFill>
                <a:latin typeface="Arial" pitchFamily="34" charset="0"/>
                <a:ea typeface="Arial" pitchFamily="34" charset="-122"/>
                <a:cs typeface="Arial" pitchFamily="34" charset="-120"/>
              </a:rPr>
              <a:t>REVENUE &amp; BILLING</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9A92C">
                    <a:alpha val="92000"/>
                  </a:srgbClr>
                </a:solidFill>
                <a:latin typeface="Arial" pitchFamily="34" charset="0"/>
                <a:ea typeface="Arial" pitchFamily="34" charset="-122"/>
                <a:cs typeface="Arial" pitchFamily="34" charset="-120"/>
              </a:rPr>
              <a:t>Q07</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Does the client pay for employees who don’t finish the entire program?</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878376"/>
            <a:ext cx="228600" cy="228600"/>
          </a:xfrm>
          <a:prstGeom prst="rect">
            <a:avLst/>
          </a:prstGeom>
        </p:spPr>
      </p:pic>
      <p:sp>
        <p:nvSpPr>
          <p:cNvPr id="9" name="Text 6"/>
          <p:cNvSpPr/>
          <p:nvPr/>
        </p:nvSpPr>
        <p:spPr>
          <a:xfrm>
            <a:off x="8477251" y="3878375"/>
            <a:ext cx="1383967" cy="285749"/>
          </a:xfrm>
          <a:prstGeom prst="rect">
            <a:avLst/>
          </a:prstGeom>
          <a:noFill/>
          <a:ln/>
        </p:spPr>
        <p:txBody>
          <a:bodyPr wrap="square" lIns="0" tIns="0" rIns="0" bIns="0" rtlCol="0" anchor="t">
            <a:normAutofit/>
          </a:bodyPr>
          <a:lstStyle/>
          <a:p>
            <a:pPr marL="0" indent="0" algn="l">
              <a:buNone/>
            </a:pPr>
            <a:r>
              <a:rPr lang="en-US" sz="1275" b="1" kern="0" spc="153" dirty="0">
                <a:solidFill>
                  <a:srgbClr val="E9A92C"/>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267701" y="5134266"/>
            <a:ext cx="9261349" cy="1206273"/>
          </a:xfrm>
          <a:prstGeom prst="rect">
            <a:avLst/>
          </a:prstGeom>
          <a:noFill/>
          <a:ln/>
        </p:spPr>
        <p:txBody>
          <a:bodyPr wrap="square" lIns="25400" tIns="25400" rIns="25400" bIns="25400" rtlCol="0" anchor="t">
            <a:norm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If a DCP has 10 modules delivering care over a 10-week period, Mobile Health bills as each weekly module is completed.</a:t>
            </a:r>
            <a:endParaRPr lang="en-US" sz="2000" dirty="0"/>
          </a:p>
        </p:txBody>
      </p:sp>
      <p:sp>
        <p:nvSpPr>
          <p:cNvPr id="11" name="Text 8"/>
          <p:cNvSpPr/>
          <p:nvPr/>
        </p:nvSpPr>
        <p:spPr>
          <a:xfrm>
            <a:off x="8267700" y="6181440"/>
            <a:ext cx="9261349" cy="809625"/>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We message users to continue until the program is complete, but we do see some users stop — particularly once they feel better.</a:t>
            </a:r>
            <a:endParaRPr lang="en-US" sz="2000" dirty="0"/>
          </a:p>
        </p:txBody>
      </p:sp>
      <p:sp>
        <p:nvSpPr>
          <p:cNvPr id="13" name="TextBox 12">
            <a:extLst>
              <a:ext uri="{FF2B5EF4-FFF2-40B4-BE49-F238E27FC236}">
                <a16:creationId xmlns:a16="http://schemas.microsoft.com/office/drawing/2014/main" id="{105FE072-1340-DCD5-E6D4-0926486B55BF}"/>
              </a:ext>
            </a:extLst>
          </p:cNvPr>
          <p:cNvSpPr txBox="1"/>
          <p:nvPr/>
        </p:nvSpPr>
        <p:spPr>
          <a:xfrm>
            <a:off x="8153401" y="4143659"/>
            <a:ext cx="9144000" cy="954107"/>
          </a:xfrm>
          <a:prstGeom prst="rect">
            <a:avLst/>
          </a:prstGeom>
          <a:noFill/>
        </p:spPr>
        <p:txBody>
          <a:bodyPr wrap="square">
            <a:spAutoFit/>
          </a:bodyPr>
          <a:lstStyle/>
          <a:p>
            <a:r>
              <a:rPr lang="en-US" sz="2800" b="1" dirty="0">
                <a:solidFill>
                  <a:srgbClr val="1F2429"/>
                </a:solidFill>
                <a:latin typeface="Arial" pitchFamily="34" charset="0"/>
                <a:ea typeface="Arial" pitchFamily="34" charset="-122"/>
                <a:cs typeface="Arial" pitchFamily="34" charset="-120"/>
              </a:rPr>
              <a:t>Yes — Mobile Health bills a claim each time a user completes a module. </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9A92C"/>
          </a:solidFill>
          <a:ln/>
        </p:spPr>
        <p:txBody>
          <a:bodyPr/>
          <a:lstStyle/>
          <a:p>
            <a:endParaRPr lang="en-US"/>
          </a:p>
        </p:txBody>
      </p:sp>
      <p:sp>
        <p:nvSpPr>
          <p:cNvPr id="4" name="Text 2"/>
          <p:cNvSpPr/>
          <p:nvPr/>
        </p:nvSpPr>
        <p:spPr>
          <a:xfrm>
            <a:off x="1371600" y="914400"/>
            <a:ext cx="2814201" cy="647272"/>
          </a:xfrm>
          <a:prstGeom prst="rect">
            <a:avLst/>
          </a:prstGeom>
          <a:noFill/>
          <a:ln/>
        </p:spPr>
        <p:txBody>
          <a:bodyPr wrap="square" lIns="0" tIns="0" rIns="0" bIns="0" rtlCol="0" anchor="t">
            <a:normAutofit/>
          </a:bodyPr>
          <a:lstStyle/>
          <a:p>
            <a:pPr marL="0" indent="0" algn="l">
              <a:buNone/>
            </a:pPr>
            <a:r>
              <a:rPr lang="en-US" sz="1500" b="1" kern="0" spc="210" dirty="0">
                <a:solidFill>
                  <a:srgbClr val="E9A92C"/>
                </a:solidFill>
                <a:latin typeface="Arial" pitchFamily="34" charset="0"/>
                <a:ea typeface="Arial" pitchFamily="34" charset="-122"/>
                <a:cs typeface="Arial" pitchFamily="34" charset="-120"/>
              </a:rPr>
              <a:t>REVENUE &amp; BILLING</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9A92C">
                    <a:alpha val="92000"/>
                  </a:srgbClr>
                </a:solidFill>
                <a:latin typeface="Arial" pitchFamily="34" charset="0"/>
                <a:ea typeface="Arial" pitchFamily="34" charset="-122"/>
                <a:cs typeface="Arial" pitchFamily="34" charset="-120"/>
              </a:rPr>
              <a:t>Q08</a:t>
            </a:r>
            <a:endParaRPr lang="en-US" sz="8250" dirty="0"/>
          </a:p>
        </p:txBody>
      </p:sp>
      <p:sp>
        <p:nvSpPr>
          <p:cNvPr id="6" name="Text 4"/>
          <p:cNvSpPr/>
          <p:nvPr/>
        </p:nvSpPr>
        <p:spPr>
          <a:xfrm>
            <a:off x="1143000" y="2662918"/>
            <a:ext cx="5712660" cy="180430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If an employee is in multiple programs at once, is an EBB claim submitted for each, or are there limits?</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124880"/>
            <a:ext cx="228600" cy="228600"/>
          </a:xfrm>
          <a:prstGeom prst="rect">
            <a:avLst/>
          </a:prstGeom>
        </p:spPr>
      </p:pic>
      <p:sp>
        <p:nvSpPr>
          <p:cNvPr id="9" name="Text 6"/>
          <p:cNvSpPr/>
          <p:nvPr/>
        </p:nvSpPr>
        <p:spPr>
          <a:xfrm>
            <a:off x="8477251" y="3124880"/>
            <a:ext cx="989467" cy="333374"/>
          </a:xfrm>
          <a:prstGeom prst="rect">
            <a:avLst/>
          </a:prstGeom>
          <a:noFill/>
          <a:ln/>
        </p:spPr>
        <p:txBody>
          <a:bodyPr wrap="square" lIns="0" tIns="0" rIns="0" bIns="0" rtlCol="0" anchor="t">
            <a:normAutofit/>
          </a:bodyPr>
          <a:lstStyle/>
          <a:p>
            <a:pPr marL="0" indent="0" algn="l">
              <a:buNone/>
            </a:pPr>
            <a:r>
              <a:rPr lang="en-US" sz="1275" b="1" kern="0" spc="153" dirty="0">
                <a:solidFill>
                  <a:srgbClr val="E9A92C"/>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563030"/>
            <a:ext cx="9261349" cy="1002846"/>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Mobile Health will </a:t>
            </a:r>
            <a:r>
              <a:rPr lang="en-US" sz="2000" b="1" dirty="0">
                <a:solidFill>
                  <a:srgbClr val="1F2429"/>
                </a:solidFill>
                <a:latin typeface="Arial" pitchFamily="34" charset="0"/>
                <a:ea typeface="Arial" pitchFamily="34" charset="-122"/>
                <a:cs typeface="Arial" pitchFamily="34" charset="-120"/>
              </a:rPr>
              <a:t>bill across multiple Digital Care Paths </a:t>
            </a:r>
            <a:r>
              <a:rPr lang="en-US" sz="2000" dirty="0">
                <a:solidFill>
                  <a:srgbClr val="4E565E"/>
                </a:solidFill>
                <a:latin typeface="Arial" pitchFamily="34" charset="0"/>
                <a:ea typeface="Arial" pitchFamily="34" charset="-122"/>
                <a:cs typeface="Arial" pitchFamily="34" charset="-120"/>
              </a:rPr>
              <a:t>, and it’s common for members to participate in more than one program at once — reflecting the reality that many people manage multiple conditions simultaneously.</a:t>
            </a:r>
            <a:endParaRPr lang="en-US" sz="2000" dirty="0"/>
          </a:p>
        </p:txBody>
      </p:sp>
      <p:sp>
        <p:nvSpPr>
          <p:cNvPr id="11" name="Text 8"/>
          <p:cNvSpPr/>
          <p:nvPr/>
        </p:nvSpPr>
        <p:spPr>
          <a:xfrm>
            <a:off x="8153400" y="5062539"/>
            <a:ext cx="9261349" cy="1317171"/>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For example, a member may manage diabetes while also addressing lower-acuity concerns such as anxiety, depression, or insomnia. Elevate’s integrated model treats these concurrently through coordinated, evidence-based pathways — unlike single-condition point solutions.</a:t>
            </a:r>
            <a:endParaRPr lang="en-US" sz="2000" dirty="0"/>
          </a:p>
        </p:txBody>
      </p:sp>
      <p:sp>
        <p:nvSpPr>
          <p:cNvPr id="12" name="Text 9"/>
          <p:cNvSpPr/>
          <p:nvPr/>
        </p:nvSpPr>
        <p:spPr>
          <a:xfrm>
            <a:off x="8153401" y="7085923"/>
            <a:ext cx="9261349" cy="1002846"/>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Employers </a:t>
            </a:r>
            <a:r>
              <a:rPr lang="en-US" sz="2000" b="1" dirty="0">
                <a:solidFill>
                  <a:srgbClr val="1F2429"/>
                </a:solidFill>
                <a:latin typeface="Arial" pitchFamily="34" charset="0"/>
                <a:ea typeface="Arial" pitchFamily="34" charset="-122"/>
                <a:cs typeface="Arial" pitchFamily="34" charset="-120"/>
              </a:rPr>
              <a:t>maintain control over utilization </a:t>
            </a:r>
            <a:r>
              <a:rPr lang="en-US" sz="2000" dirty="0">
                <a:solidFill>
                  <a:srgbClr val="4E565E"/>
                </a:solidFill>
                <a:latin typeface="Arial" pitchFamily="34" charset="0"/>
                <a:ea typeface="Arial" pitchFamily="34" charset="-122"/>
                <a:cs typeface="Arial" pitchFamily="34" charset="-120"/>
              </a:rPr>
              <a:t>and may set eligibility parameters — e.g. limiting the number of DCPs a member can access per year, or restricting specific condition-based programs.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F5F0"/>
        </a:solidFill>
        <a:effectLst/>
      </p:bgPr>
    </p:bg>
    <p:spTree>
      <p:nvGrpSpPr>
        <p:cNvPr id="1" name=""/>
        <p:cNvGrpSpPr/>
        <p:nvPr/>
      </p:nvGrpSpPr>
      <p:grpSpPr>
        <a:xfrm>
          <a:off x="0" y="0"/>
          <a:ext cx="0" cy="0"/>
          <a:chOff x="0" y="0"/>
          <a:chExt cx="0" cy="0"/>
        </a:xfrm>
      </p:grpSpPr>
      <p:sp>
        <p:nvSpPr>
          <p:cNvPr id="2" name="Shape 0"/>
          <p:cNvSpPr/>
          <p:nvPr/>
        </p:nvSpPr>
        <p:spPr>
          <a:xfrm>
            <a:off x="1143000" y="3365302"/>
            <a:ext cx="914400" cy="914400"/>
          </a:xfrm>
          <a:prstGeom prst="roundRect">
            <a:avLst>
              <a:gd name="adj" fmla="val 27083"/>
            </a:avLst>
          </a:prstGeom>
          <a:solidFill>
            <a:srgbClr val="00966E"/>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485900" y="3708202"/>
            <a:ext cx="228600" cy="228600"/>
          </a:xfrm>
          <a:prstGeom prst="rect">
            <a:avLst/>
          </a:prstGeom>
        </p:spPr>
      </p:pic>
      <p:sp>
        <p:nvSpPr>
          <p:cNvPr id="4" name="Text 1"/>
          <p:cNvSpPr/>
          <p:nvPr/>
        </p:nvSpPr>
        <p:spPr>
          <a:xfrm>
            <a:off x="1143000" y="4660702"/>
            <a:ext cx="16482061" cy="446314"/>
          </a:xfrm>
          <a:prstGeom prst="rect">
            <a:avLst/>
          </a:prstGeom>
          <a:noFill/>
          <a:ln/>
        </p:spPr>
        <p:txBody>
          <a:bodyPr wrap="square" lIns="25400" tIns="25400" rIns="25400" bIns="25400" rtlCol="0" anchor="t">
            <a:normAutofit/>
          </a:bodyPr>
          <a:lstStyle/>
          <a:p>
            <a:pPr marL="0" indent="0" algn="l">
              <a:buNone/>
            </a:pPr>
            <a:r>
              <a:rPr lang="en-US" sz="2250" b="1" kern="0" spc="90" dirty="0">
                <a:solidFill>
                  <a:srgbClr val="00966E"/>
                </a:solidFill>
                <a:latin typeface="Arial" pitchFamily="34" charset="0"/>
                <a:ea typeface="Arial" pitchFamily="34" charset="-122"/>
                <a:cs typeface="Arial" pitchFamily="34" charset="-120"/>
              </a:rPr>
              <a:t>03</a:t>
            </a:r>
            <a:endParaRPr lang="en-US" sz="2250" dirty="0"/>
          </a:p>
        </p:txBody>
      </p:sp>
      <p:sp>
        <p:nvSpPr>
          <p:cNvPr id="5" name="Text 2"/>
          <p:cNvSpPr/>
          <p:nvPr/>
        </p:nvSpPr>
        <p:spPr>
          <a:xfrm>
            <a:off x="1143000" y="5240366"/>
            <a:ext cx="9681546" cy="862183"/>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6300" b="1" kern="0" spc="-126" dirty="0">
                <a:solidFill>
                  <a:srgbClr val="1F2429"/>
                </a:solidFill>
                <a:latin typeface="Arial" pitchFamily="34" charset="0"/>
                <a:ea typeface="Arial" pitchFamily="34" charset="-122"/>
                <a:cs typeface="Arial" pitchFamily="34" charset="-120"/>
              </a:rPr>
              <a:t>Clinical &amp; Eligibility</a:t>
            </a:r>
            <a:endParaRPr lang="en-US" sz="6300" dirty="0"/>
          </a:p>
        </p:txBody>
      </p:sp>
      <p:sp>
        <p:nvSpPr>
          <p:cNvPr id="6" name="Text 3"/>
          <p:cNvSpPr/>
          <p:nvPr/>
        </p:nvSpPr>
        <p:spPr>
          <a:xfrm>
            <a:off x="1143000" y="6312098"/>
            <a:ext cx="8278402" cy="647700"/>
          </a:xfrm>
          <a:prstGeom prst="rect">
            <a:avLst/>
          </a:prstGeom>
          <a:noFill/>
          <a:ln/>
        </p:spPr>
        <p:txBody>
          <a:bodyPr wrap="square" lIns="25400" tIns="25400" rIns="25400" bIns="25400" rtlCol="0" anchor="t">
            <a:normAutofit/>
          </a:bodyPr>
          <a:lstStyle/>
          <a:p>
            <a:pPr marL="0" indent="0" algn="l">
              <a:buNone/>
            </a:pPr>
            <a:r>
              <a:rPr lang="en-US" sz="2100" dirty="0">
                <a:solidFill>
                  <a:srgbClr val="4E565E"/>
                </a:solidFill>
                <a:latin typeface="Arial" pitchFamily="34" charset="0"/>
                <a:ea typeface="Arial" pitchFamily="34" charset="-122"/>
                <a:cs typeface="Arial" pitchFamily="34" charset="-120"/>
              </a:rPr>
              <a:t>Clinical validation, risk identification, and who qualifies for a DCP.</a:t>
            </a:r>
            <a:endParaRPr lang="en-US" sz="2100" dirty="0"/>
          </a:p>
        </p:txBody>
      </p:sp>
      <p:sp>
        <p:nvSpPr>
          <p:cNvPr id="7" name="Text 4"/>
          <p:cNvSpPr/>
          <p:nvPr/>
        </p:nvSpPr>
        <p:spPr>
          <a:xfrm>
            <a:off x="16088831" y="9116786"/>
            <a:ext cx="1132369" cy="332014"/>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00966E"/>
                </a:solidFill>
                <a:latin typeface="Arial" pitchFamily="34" charset="0"/>
                <a:ea typeface="Arial" pitchFamily="34" charset="-122"/>
                <a:cs typeface="Arial" pitchFamily="34" charset="-120"/>
              </a:rPr>
              <a:t>5 questions</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966E"/>
          </a:solidFill>
          <a:ln/>
        </p:spPr>
        <p:txBody>
          <a:bodyPr/>
          <a:lstStyle/>
          <a:p>
            <a:endParaRPr lang="en-US"/>
          </a:p>
        </p:txBody>
      </p:sp>
      <p:sp>
        <p:nvSpPr>
          <p:cNvPr id="4" name="Text 2"/>
          <p:cNvSpPr/>
          <p:nvPr/>
        </p:nvSpPr>
        <p:spPr>
          <a:xfrm>
            <a:off x="1371600" y="914400"/>
            <a:ext cx="3909317" cy="698643"/>
          </a:xfrm>
          <a:prstGeom prst="rect">
            <a:avLst/>
          </a:prstGeom>
          <a:noFill/>
          <a:ln/>
        </p:spPr>
        <p:txBody>
          <a:bodyPr wrap="square" lIns="0" tIns="0" rIns="0" bIns="0" rtlCol="0" anchor="t">
            <a:normAutofit/>
          </a:bodyPr>
          <a:lstStyle/>
          <a:p>
            <a:pPr marL="0" indent="0" algn="l">
              <a:buNone/>
            </a:pPr>
            <a:r>
              <a:rPr lang="en-US" sz="1500" b="1" kern="0" spc="210" dirty="0">
                <a:solidFill>
                  <a:srgbClr val="00966E"/>
                </a:solidFill>
                <a:latin typeface="Arial" pitchFamily="34" charset="0"/>
                <a:ea typeface="Arial" pitchFamily="34" charset="-122"/>
                <a:cs typeface="Arial" pitchFamily="34" charset="-120"/>
              </a:rPr>
              <a:t>CLINICAL &amp; ELIGIBILITY</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966E">
                    <a:alpha val="92000"/>
                  </a:srgbClr>
                </a:solidFill>
                <a:latin typeface="Arial" pitchFamily="34" charset="0"/>
                <a:ea typeface="Arial" pitchFamily="34" charset="-122"/>
                <a:cs typeface="Arial" pitchFamily="34" charset="-120"/>
              </a:rPr>
              <a:t>Q09</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Are there specific eligibility criteria for claims-based billing? Must the individual be at-risk?</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287486"/>
            <a:ext cx="228600" cy="228600"/>
          </a:xfrm>
          <a:prstGeom prst="rect">
            <a:avLst/>
          </a:prstGeom>
        </p:spPr>
      </p:pic>
      <p:sp>
        <p:nvSpPr>
          <p:cNvPr id="9" name="Text 6"/>
          <p:cNvSpPr/>
          <p:nvPr/>
        </p:nvSpPr>
        <p:spPr>
          <a:xfrm>
            <a:off x="8477251" y="3287485"/>
            <a:ext cx="1231828" cy="333375"/>
          </a:xfrm>
          <a:prstGeom prst="rect">
            <a:avLst/>
          </a:prstGeom>
          <a:noFill/>
          <a:ln/>
        </p:spPr>
        <p:txBody>
          <a:bodyPr wrap="square" lIns="0" tIns="0" rIns="0" bIns="0" rtlCol="0" anchor="t">
            <a:normAutofit/>
          </a:bodyPr>
          <a:lstStyle/>
          <a:p>
            <a:pPr marL="0" indent="0" algn="l">
              <a:buNone/>
            </a:pPr>
            <a:r>
              <a:rPr lang="en-US" sz="1275" b="1" kern="0" spc="153" dirty="0">
                <a:solidFill>
                  <a:srgbClr val="00966E"/>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725636"/>
            <a:ext cx="9261349" cy="1317171"/>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Elevate identifies at-risk individuals through multiple sources — medical and pharmacy claims, wearable data, health assessments, biometric screenings, and other engagement signals — then proactively engages them with personalized outreach into an appropriate DCP.</a:t>
            </a:r>
            <a:endParaRPr lang="en-US" sz="2000" dirty="0"/>
          </a:p>
        </p:txBody>
      </p:sp>
      <p:sp>
        <p:nvSpPr>
          <p:cNvPr id="11" name="Text 8"/>
          <p:cNvSpPr/>
          <p:nvPr/>
        </p:nvSpPr>
        <p:spPr>
          <a:xfrm>
            <a:off x="8137072" y="5646284"/>
            <a:ext cx="9261349" cy="997404"/>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For example, if a member connects Apple HealthKit and Elevate detects a meaningful change in sleep patterns, they may receive targeted messaging recommending a relevant DCP before concerns escalate.</a:t>
            </a:r>
            <a:endParaRPr lang="en-US" sz="2000" dirty="0"/>
          </a:p>
        </p:txBody>
      </p:sp>
      <p:sp>
        <p:nvSpPr>
          <p:cNvPr id="12" name="Text 9"/>
          <p:cNvSpPr/>
          <p:nvPr/>
        </p:nvSpPr>
        <p:spPr>
          <a:xfrm>
            <a:off x="8153401" y="7173005"/>
            <a:ext cx="9261349" cy="683079"/>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Many members also enroll </a:t>
            </a:r>
            <a:r>
              <a:rPr lang="en-US" sz="2000" b="1" dirty="0">
                <a:solidFill>
                  <a:srgbClr val="1F2429"/>
                </a:solidFill>
                <a:latin typeface="Arial" pitchFamily="34" charset="0"/>
                <a:ea typeface="Arial" pitchFamily="34" charset="-122"/>
                <a:cs typeface="Arial" pitchFamily="34" charset="-120"/>
              </a:rPr>
              <a:t>before a condition appears in claims data </a:t>
            </a:r>
            <a:r>
              <a:rPr lang="en-US" sz="2000" dirty="0">
                <a:solidFill>
                  <a:srgbClr val="4E565E"/>
                </a:solidFill>
                <a:latin typeface="Arial" pitchFamily="34" charset="0"/>
                <a:ea typeface="Arial" pitchFamily="34" charset="-122"/>
                <a:cs typeface="Arial" pitchFamily="34" charset="-120"/>
              </a:rPr>
              <a:t>— choosing to engage early with low-acuity concerns to prevent more serious, higher-cost conditions later.</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966E"/>
          </a:solidFill>
          <a:ln/>
        </p:spPr>
        <p:txBody>
          <a:bodyPr/>
          <a:lstStyle/>
          <a:p>
            <a:endParaRPr lang="en-US"/>
          </a:p>
        </p:txBody>
      </p:sp>
      <p:sp>
        <p:nvSpPr>
          <p:cNvPr id="4" name="Text 2"/>
          <p:cNvSpPr/>
          <p:nvPr/>
        </p:nvSpPr>
        <p:spPr>
          <a:xfrm>
            <a:off x="1371600" y="914400"/>
            <a:ext cx="3231222" cy="538843"/>
          </a:xfrm>
          <a:prstGeom prst="rect">
            <a:avLst/>
          </a:prstGeom>
          <a:noFill/>
          <a:ln/>
        </p:spPr>
        <p:txBody>
          <a:bodyPr wrap="square" lIns="0" tIns="0" rIns="0" bIns="0" rtlCol="0" anchor="t">
            <a:normAutofit/>
          </a:bodyPr>
          <a:lstStyle/>
          <a:p>
            <a:pPr marL="0" indent="0" algn="l">
              <a:buNone/>
            </a:pPr>
            <a:r>
              <a:rPr lang="en-US" sz="1500" b="1" kern="0" spc="210" dirty="0">
                <a:solidFill>
                  <a:srgbClr val="00966E"/>
                </a:solidFill>
                <a:latin typeface="Arial" pitchFamily="34" charset="0"/>
                <a:ea typeface="Arial" pitchFamily="34" charset="-122"/>
                <a:cs typeface="Arial" pitchFamily="34" charset="-120"/>
              </a:rPr>
              <a:t>CLINICAL &amp; ELIGIBILITY</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966E">
                    <a:alpha val="92000"/>
                  </a:srgbClr>
                </a:solidFill>
                <a:latin typeface="Arial" pitchFamily="34" charset="0"/>
                <a:ea typeface="Arial" pitchFamily="34" charset="-122"/>
                <a:cs typeface="Arial" pitchFamily="34" charset="-120"/>
              </a:rPr>
              <a:t>Q10</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Are DCPs developed or overseen by clinicians, and have they been clinically validated for EBB?</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122159"/>
            <a:ext cx="228600" cy="228600"/>
          </a:xfrm>
          <a:prstGeom prst="rect">
            <a:avLst/>
          </a:prstGeom>
        </p:spPr>
      </p:pic>
      <p:sp>
        <p:nvSpPr>
          <p:cNvPr id="9" name="Text 6"/>
          <p:cNvSpPr/>
          <p:nvPr/>
        </p:nvSpPr>
        <p:spPr>
          <a:xfrm>
            <a:off x="8477251" y="3122159"/>
            <a:ext cx="1428750" cy="266700"/>
          </a:xfrm>
          <a:prstGeom prst="rect">
            <a:avLst/>
          </a:prstGeom>
          <a:noFill/>
          <a:ln/>
        </p:spPr>
        <p:txBody>
          <a:bodyPr wrap="square" lIns="0" tIns="0" rIns="0" bIns="0" rtlCol="0" anchor="t">
            <a:normAutofit/>
          </a:bodyPr>
          <a:lstStyle/>
          <a:p>
            <a:pPr marL="0" indent="0" algn="l">
              <a:buNone/>
            </a:pPr>
            <a:r>
              <a:rPr lang="en-US" sz="1275" b="1" kern="0" spc="153" dirty="0">
                <a:solidFill>
                  <a:srgbClr val="00966E"/>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560309"/>
            <a:ext cx="9261349" cy="1002846"/>
          </a:xfrm>
          <a:prstGeom prst="rect">
            <a:avLst/>
          </a:prstGeom>
          <a:noFill/>
          <a:ln/>
        </p:spPr>
        <p:txBody>
          <a:bodyPr wrap="square" lIns="25400" tIns="25400" rIns="25400" bIns="25400" rtlCol="0" anchor="t">
            <a:noAutofit/>
          </a:bodyPr>
          <a:lstStyle/>
          <a:p>
            <a:pPr marL="0" indent="0" algn="l">
              <a:lnSpc>
                <a:spcPct val="146000"/>
              </a:lnSpc>
              <a:buNone/>
            </a:pPr>
            <a:r>
              <a:rPr lang="en-US" sz="2000" b="1" dirty="0">
                <a:solidFill>
                  <a:srgbClr val="1F2429"/>
                </a:solidFill>
                <a:latin typeface="Arial" pitchFamily="34" charset="0"/>
                <a:ea typeface="Arial" pitchFamily="34" charset="-122"/>
                <a:cs typeface="Arial" pitchFamily="34" charset="-120"/>
              </a:rPr>
              <a:t>Yes. </a:t>
            </a:r>
            <a:r>
              <a:rPr lang="en-US" sz="2000" dirty="0">
                <a:solidFill>
                  <a:srgbClr val="4E565E"/>
                </a:solidFill>
                <a:latin typeface="Arial" pitchFamily="34" charset="0"/>
                <a:ea typeface="Arial" pitchFamily="34" charset="-122"/>
                <a:cs typeface="Arial" pitchFamily="34" charset="-120"/>
              </a:rPr>
              <a:t>Elevate’s DCPs are developed by our clinical team and grounded in evidence-based treatment protocols and established standards of care, reflecting best practices for prevention, management, and treatment of specific conditions.</a:t>
            </a:r>
            <a:endParaRPr lang="en-US" sz="2000" dirty="0"/>
          </a:p>
        </p:txBody>
      </p:sp>
      <p:sp>
        <p:nvSpPr>
          <p:cNvPr id="11" name="Text 8"/>
          <p:cNvSpPr/>
          <p:nvPr/>
        </p:nvSpPr>
        <p:spPr>
          <a:xfrm>
            <a:off x="8153400" y="5022595"/>
            <a:ext cx="9261349" cy="1002846"/>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For behavioral health, programs use </a:t>
            </a:r>
            <a:r>
              <a:rPr lang="en-US" sz="2000" b="1" dirty="0">
                <a:solidFill>
                  <a:srgbClr val="1F2429"/>
                </a:solidFill>
                <a:latin typeface="Arial" pitchFamily="34" charset="0"/>
                <a:ea typeface="Arial" pitchFamily="34" charset="-122"/>
                <a:cs typeface="Arial" pitchFamily="34" charset="-120"/>
              </a:rPr>
              <a:t>Cognitive Behavioral Therapy (CBT) </a:t>
            </a:r>
            <a:r>
              <a:rPr lang="en-US" sz="2000" dirty="0">
                <a:solidFill>
                  <a:srgbClr val="4E565E"/>
                </a:solidFill>
                <a:latin typeface="Arial" pitchFamily="34" charset="0"/>
                <a:ea typeface="Arial" pitchFamily="34" charset="-122"/>
                <a:cs typeface="Arial" pitchFamily="34" charset="-120"/>
              </a:rPr>
              <a:t>— a clinically validated approach shown to improve outcomes across depression, anxiety, stress, and insomnia.</a:t>
            </a:r>
            <a:endParaRPr lang="en-US" sz="2000" dirty="0"/>
          </a:p>
        </p:txBody>
      </p:sp>
      <p:sp>
        <p:nvSpPr>
          <p:cNvPr id="12" name="Text 9"/>
          <p:cNvSpPr/>
          <p:nvPr/>
        </p:nvSpPr>
        <p:spPr>
          <a:xfrm>
            <a:off x="8153401" y="6436859"/>
            <a:ext cx="9261349" cy="1322614"/>
          </a:xfrm>
          <a:prstGeom prst="rect">
            <a:avLst/>
          </a:prstGeom>
          <a:noFill/>
          <a:ln/>
        </p:spPr>
        <p:txBody>
          <a:bodyPr wrap="square" lIns="25400" tIns="25400" rIns="25400" bIns="25400" rtlCol="0" anchor="t">
            <a:noAutofit/>
          </a:bodyPr>
          <a:lstStyle/>
          <a:p>
            <a:pPr marL="0" indent="0" algn="l">
              <a:lnSpc>
                <a:spcPct val="146000"/>
              </a:lnSpc>
              <a:buNone/>
            </a:pPr>
            <a:r>
              <a:rPr lang="en-US" sz="2000" dirty="0">
                <a:solidFill>
                  <a:srgbClr val="4E565E"/>
                </a:solidFill>
                <a:latin typeface="Arial" pitchFamily="34" charset="0"/>
                <a:ea typeface="Arial" pitchFamily="34" charset="-122"/>
                <a:cs typeface="Arial" pitchFamily="34" charset="-120"/>
              </a:rPr>
              <a:t>Members enrolling in a behavioral health DCP complete a validated assessment to gauge severity. The Depression DCP, for example, uses the </a:t>
            </a:r>
            <a:r>
              <a:rPr lang="en-US" sz="2000" b="1" dirty="0">
                <a:solidFill>
                  <a:srgbClr val="1F2429"/>
                </a:solidFill>
                <a:latin typeface="Arial" pitchFamily="34" charset="0"/>
                <a:ea typeface="Arial" pitchFamily="34" charset="-122"/>
                <a:cs typeface="Arial" pitchFamily="34" charset="-120"/>
              </a:rPr>
              <a:t>PHQ-9 </a:t>
            </a:r>
            <a:r>
              <a:rPr lang="en-US" sz="2000" dirty="0">
                <a:solidFill>
                  <a:srgbClr val="4E565E"/>
                </a:solidFill>
                <a:latin typeface="Arial" pitchFamily="34" charset="0"/>
                <a:ea typeface="Arial" pitchFamily="34" charset="-122"/>
                <a:cs typeface="Arial" pitchFamily="34" charset="-120"/>
              </a:rPr>
              <a:t>— the industry-standard screening tool — to personalize the experience, monitor progress, and flag those needing additional support.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966E"/>
          </a:solidFill>
          <a:ln/>
        </p:spPr>
        <p:txBody>
          <a:bodyPr/>
          <a:lstStyle/>
          <a:p>
            <a:endParaRPr lang="en-US"/>
          </a:p>
        </p:txBody>
      </p:sp>
      <p:sp>
        <p:nvSpPr>
          <p:cNvPr id="4" name="Text 2"/>
          <p:cNvSpPr/>
          <p:nvPr/>
        </p:nvSpPr>
        <p:spPr>
          <a:xfrm>
            <a:off x="1371600" y="914400"/>
            <a:ext cx="2906669" cy="538843"/>
          </a:xfrm>
          <a:prstGeom prst="rect">
            <a:avLst/>
          </a:prstGeom>
          <a:noFill/>
          <a:ln/>
        </p:spPr>
        <p:txBody>
          <a:bodyPr wrap="square" lIns="0" tIns="0" rIns="0" bIns="0" rtlCol="0" anchor="t">
            <a:normAutofit/>
          </a:bodyPr>
          <a:lstStyle/>
          <a:p>
            <a:pPr marL="0" indent="0" algn="l">
              <a:buNone/>
            </a:pPr>
            <a:r>
              <a:rPr lang="en-US" sz="1500" b="1" kern="0" spc="210" dirty="0">
                <a:solidFill>
                  <a:srgbClr val="00966E"/>
                </a:solidFill>
                <a:latin typeface="Arial" pitchFamily="34" charset="0"/>
                <a:ea typeface="Arial" pitchFamily="34" charset="-122"/>
                <a:cs typeface="Arial" pitchFamily="34" charset="-120"/>
              </a:rPr>
              <a:t>CLINICAL &amp; ELIGIBILITY</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966E">
                    <a:alpha val="92000"/>
                  </a:srgbClr>
                </a:solidFill>
                <a:latin typeface="Arial" pitchFamily="34" charset="0"/>
                <a:ea typeface="Arial" pitchFamily="34" charset="-122"/>
                <a:cs typeface="Arial" pitchFamily="34" charset="-120"/>
              </a:rPr>
              <a:t>Q11</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If a participant is exceptionally high risk, are they escalated to real-time clinical care instead of a DCP?</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492614"/>
            <a:ext cx="228600" cy="228600"/>
          </a:xfrm>
          <a:prstGeom prst="rect">
            <a:avLst/>
          </a:prstGeom>
        </p:spPr>
      </p:pic>
      <p:sp>
        <p:nvSpPr>
          <p:cNvPr id="9" name="Text 6"/>
          <p:cNvSpPr/>
          <p:nvPr/>
        </p:nvSpPr>
        <p:spPr>
          <a:xfrm>
            <a:off x="8477251" y="3492614"/>
            <a:ext cx="1159909" cy="285750"/>
          </a:xfrm>
          <a:prstGeom prst="rect">
            <a:avLst/>
          </a:prstGeom>
          <a:noFill/>
          <a:ln/>
        </p:spPr>
        <p:txBody>
          <a:bodyPr wrap="square" lIns="0" tIns="0" rIns="0" bIns="0" rtlCol="0" anchor="t">
            <a:normAutofit/>
          </a:bodyPr>
          <a:lstStyle/>
          <a:p>
            <a:pPr marL="0" indent="0" algn="l">
              <a:buNone/>
            </a:pPr>
            <a:r>
              <a:rPr lang="en-US" sz="1275" b="1" kern="0" spc="153" dirty="0">
                <a:solidFill>
                  <a:srgbClr val="00966E"/>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3930764"/>
            <a:ext cx="9261349" cy="1206273"/>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Through our Digital Care Path assessment tools, Elevate evaluates member severity </a:t>
            </a:r>
            <a:r>
              <a:rPr lang="en-US" sz="2025" b="1" dirty="0">
                <a:solidFill>
                  <a:srgbClr val="1F2429"/>
                </a:solidFill>
                <a:latin typeface="Arial" pitchFamily="34" charset="0"/>
                <a:ea typeface="Arial" pitchFamily="34" charset="-122"/>
                <a:cs typeface="Arial" pitchFamily="34" charset="-120"/>
              </a:rPr>
              <a:t>before a user begins a billable DCP </a:t>
            </a:r>
            <a:r>
              <a:rPr lang="en-US" sz="2025" dirty="0">
                <a:solidFill>
                  <a:srgbClr val="4E565E"/>
                </a:solidFill>
                <a:latin typeface="Arial" pitchFamily="34" charset="0"/>
                <a:ea typeface="Arial" pitchFamily="34" charset="-122"/>
                <a:cs typeface="Arial" pitchFamily="34" charset="-120"/>
              </a:rPr>
              <a:t>— ensuring members are directed to the appropriate level of care from the outset.</a:t>
            </a:r>
            <a:endParaRPr lang="en-US" sz="2025" dirty="0"/>
          </a:p>
        </p:txBody>
      </p:sp>
      <p:sp>
        <p:nvSpPr>
          <p:cNvPr id="11" name="Text 8"/>
          <p:cNvSpPr/>
          <p:nvPr/>
        </p:nvSpPr>
        <p:spPr>
          <a:xfrm>
            <a:off x="8153401" y="5289437"/>
            <a:ext cx="9261349" cy="15811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4E565E"/>
                </a:solidFill>
                <a:latin typeface="Arial" pitchFamily="34" charset="0"/>
                <a:ea typeface="Arial" pitchFamily="34" charset="-122"/>
                <a:cs typeface="Arial" pitchFamily="34" charset="-120"/>
              </a:rPr>
              <a:t>For example, if a member enrolling in the Depression DCP completes the PHQ-9 and their score indicates a need for a higher level of care, they are immediately referred to the appropriate clinical resources rather than continuing in a lower-acuity digital program.</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966E"/>
          </a:solidFill>
          <a:ln/>
        </p:spPr>
        <p:txBody>
          <a:bodyPr/>
          <a:lstStyle/>
          <a:p>
            <a:endParaRPr lang="en-US"/>
          </a:p>
        </p:txBody>
      </p:sp>
      <p:sp>
        <p:nvSpPr>
          <p:cNvPr id="4" name="Text 2"/>
          <p:cNvSpPr/>
          <p:nvPr/>
        </p:nvSpPr>
        <p:spPr>
          <a:xfrm>
            <a:off x="1371600" y="914400"/>
            <a:ext cx="3153249" cy="310243"/>
          </a:xfrm>
          <a:prstGeom prst="rect">
            <a:avLst/>
          </a:prstGeom>
          <a:noFill/>
          <a:ln/>
        </p:spPr>
        <p:txBody>
          <a:bodyPr wrap="square" lIns="0" tIns="0" rIns="0" bIns="0" rtlCol="0" anchor="t">
            <a:normAutofit/>
          </a:bodyPr>
          <a:lstStyle/>
          <a:p>
            <a:pPr marL="0" indent="0" algn="l">
              <a:buNone/>
            </a:pPr>
            <a:r>
              <a:rPr lang="en-US" sz="1500" b="1" kern="0" spc="210" dirty="0">
                <a:solidFill>
                  <a:srgbClr val="00966E"/>
                </a:solidFill>
                <a:latin typeface="Arial" pitchFamily="34" charset="0"/>
                <a:ea typeface="Arial" pitchFamily="34" charset="-122"/>
                <a:cs typeface="Arial" pitchFamily="34" charset="-120"/>
              </a:rPr>
              <a:t>CLINICAL &amp; ELIGIBILITY</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966E">
                    <a:alpha val="92000"/>
                  </a:srgbClr>
                </a:solidFill>
                <a:latin typeface="Arial" pitchFamily="34" charset="0"/>
                <a:ea typeface="Arial" pitchFamily="34" charset="-122"/>
                <a:cs typeface="Arial" pitchFamily="34" charset="-120"/>
              </a:rPr>
              <a:t>Q12</a:t>
            </a:r>
            <a:endParaRPr lang="en-US" sz="8250" dirty="0"/>
          </a:p>
        </p:txBody>
      </p:sp>
      <p:sp>
        <p:nvSpPr>
          <p:cNvPr id="6" name="Text 4"/>
          <p:cNvSpPr/>
          <p:nvPr/>
        </p:nvSpPr>
        <p:spPr>
          <a:xfrm>
            <a:off x="1143000" y="2662918"/>
            <a:ext cx="5712660" cy="180430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For employees who complete the Health Assessment and aren’t flagged at-risk, are DCPs still available?</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4429125"/>
            <a:ext cx="228600" cy="228600"/>
          </a:xfrm>
          <a:prstGeom prst="rect">
            <a:avLst/>
          </a:prstGeom>
        </p:spPr>
      </p:pic>
      <p:sp>
        <p:nvSpPr>
          <p:cNvPr id="9" name="Text 6"/>
          <p:cNvSpPr/>
          <p:nvPr/>
        </p:nvSpPr>
        <p:spPr>
          <a:xfrm>
            <a:off x="8477251" y="4429125"/>
            <a:ext cx="1673616" cy="266700"/>
          </a:xfrm>
          <a:prstGeom prst="rect">
            <a:avLst/>
          </a:prstGeom>
          <a:noFill/>
          <a:ln/>
        </p:spPr>
        <p:txBody>
          <a:bodyPr wrap="square" lIns="0" tIns="0" rIns="0" bIns="0" rtlCol="0" anchor="t">
            <a:normAutofit/>
          </a:bodyPr>
          <a:lstStyle/>
          <a:p>
            <a:pPr marL="0" indent="0" algn="l">
              <a:buNone/>
            </a:pPr>
            <a:r>
              <a:rPr lang="en-US" sz="1275" b="1" kern="0" spc="153" dirty="0">
                <a:solidFill>
                  <a:srgbClr val="00966E"/>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867275"/>
            <a:ext cx="9261349" cy="1066800"/>
          </a:xfrm>
          <a:prstGeom prst="rect">
            <a:avLst/>
          </a:prstGeom>
          <a:noFill/>
          <a:ln/>
        </p:spPr>
        <p:txBody>
          <a:bodyPr wrap="square" lIns="25400" tIns="25400" rIns="25400" bIns="25400" rtlCol="0" anchor="t">
            <a:noAutofit/>
          </a:bodyPr>
          <a:lstStyle/>
          <a:p>
            <a:pPr marL="0" indent="0" algn="l">
              <a:lnSpc>
                <a:spcPct val="135000"/>
              </a:lnSpc>
              <a:buNone/>
            </a:pPr>
            <a:r>
              <a:rPr lang="en-US" sz="2800" dirty="0">
                <a:solidFill>
                  <a:srgbClr val="1F2429"/>
                </a:solidFill>
                <a:latin typeface="Arial" pitchFamily="34" charset="0"/>
                <a:ea typeface="Arial" pitchFamily="34" charset="-122"/>
                <a:cs typeface="Arial" pitchFamily="34" charset="-120"/>
              </a:rPr>
              <a:t>Yes — Digital Care Paths are visible and available to all users in the platform.</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00966E"/>
          </a:solidFill>
          <a:ln/>
        </p:spPr>
        <p:txBody>
          <a:bodyPr/>
          <a:lstStyle/>
          <a:p>
            <a:endParaRPr lang="en-US"/>
          </a:p>
        </p:txBody>
      </p:sp>
      <p:sp>
        <p:nvSpPr>
          <p:cNvPr id="4" name="Text 2"/>
          <p:cNvSpPr/>
          <p:nvPr/>
        </p:nvSpPr>
        <p:spPr>
          <a:xfrm>
            <a:off x="1371600" y="914400"/>
            <a:ext cx="3461473" cy="441789"/>
          </a:xfrm>
          <a:prstGeom prst="rect">
            <a:avLst/>
          </a:prstGeom>
          <a:noFill/>
          <a:ln/>
        </p:spPr>
        <p:txBody>
          <a:bodyPr wrap="square" lIns="0" tIns="0" rIns="0" bIns="0" rtlCol="0" anchor="t">
            <a:normAutofit/>
          </a:bodyPr>
          <a:lstStyle/>
          <a:p>
            <a:pPr marL="0" indent="0" algn="l">
              <a:buNone/>
            </a:pPr>
            <a:r>
              <a:rPr lang="en-US" sz="1500" b="1" kern="0" spc="210" dirty="0">
                <a:solidFill>
                  <a:srgbClr val="00966E"/>
                </a:solidFill>
                <a:latin typeface="Arial" pitchFamily="34" charset="0"/>
                <a:ea typeface="Arial" pitchFamily="34" charset="-122"/>
                <a:cs typeface="Arial" pitchFamily="34" charset="-120"/>
              </a:rPr>
              <a:t>CLINICAL &amp; ELIGIBILITY</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00966E">
                    <a:alpha val="92000"/>
                  </a:srgbClr>
                </a:solidFill>
                <a:latin typeface="Arial" pitchFamily="34" charset="0"/>
                <a:ea typeface="Arial" pitchFamily="34" charset="-122"/>
                <a:cs typeface="Arial" pitchFamily="34" charset="-120"/>
              </a:rPr>
              <a:t>Q13</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If a non-at-risk employee later completes a DCP, would Elevate still submit an EBB claim for them?</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657600"/>
            <a:ext cx="228600" cy="228600"/>
          </a:xfrm>
          <a:prstGeom prst="rect">
            <a:avLst/>
          </a:prstGeom>
        </p:spPr>
      </p:pic>
      <p:sp>
        <p:nvSpPr>
          <p:cNvPr id="9" name="Text 6"/>
          <p:cNvSpPr/>
          <p:nvPr/>
        </p:nvSpPr>
        <p:spPr>
          <a:xfrm>
            <a:off x="8477251" y="3657599"/>
            <a:ext cx="1215499" cy="368073"/>
          </a:xfrm>
          <a:prstGeom prst="rect">
            <a:avLst/>
          </a:prstGeom>
          <a:noFill/>
          <a:ln/>
        </p:spPr>
        <p:txBody>
          <a:bodyPr wrap="square" lIns="0" tIns="0" rIns="0" bIns="0" rtlCol="0" anchor="t">
            <a:normAutofit/>
          </a:bodyPr>
          <a:lstStyle/>
          <a:p>
            <a:pPr marL="0" indent="0" algn="l">
              <a:buNone/>
            </a:pPr>
            <a:r>
              <a:rPr lang="en-US" sz="1275" b="1" kern="0" spc="153" dirty="0">
                <a:solidFill>
                  <a:srgbClr val="00966E"/>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095750"/>
            <a:ext cx="9261349" cy="2609850"/>
          </a:xfrm>
          <a:prstGeom prst="rect">
            <a:avLst/>
          </a:prstGeom>
          <a:noFill/>
          <a:ln/>
        </p:spPr>
        <p:txBody>
          <a:bodyPr wrap="square" lIns="25400" tIns="25400" rIns="25400" bIns="25400" rtlCol="0" anchor="t">
            <a:normAutofit/>
          </a:bodyPr>
          <a:lstStyle/>
          <a:p>
            <a:pPr marL="0" indent="0" algn="l">
              <a:lnSpc>
                <a:spcPct val="135000"/>
              </a:lnSpc>
              <a:buNone/>
            </a:pPr>
            <a:r>
              <a:rPr lang="en-US" sz="2000" dirty="0">
                <a:solidFill>
                  <a:srgbClr val="1F2429"/>
                </a:solidFill>
                <a:latin typeface="Arial" pitchFamily="34" charset="0"/>
                <a:ea typeface="Arial" pitchFamily="34" charset="-122"/>
                <a:cs typeface="Arial" pitchFamily="34" charset="-120"/>
              </a:rPr>
              <a:t>Yes. Just like health care claims submitted by providers on the network, users may present with new conditions — like low back pain they haven’t experienced before — and opt in to the DCP for treatment.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ECE6"/>
        </a:solidFill>
        <a:effectLst/>
      </p:bgPr>
    </p:bg>
    <p:spTree>
      <p:nvGrpSpPr>
        <p:cNvPr id="1" name=""/>
        <p:cNvGrpSpPr/>
        <p:nvPr/>
      </p:nvGrpSpPr>
      <p:grpSpPr>
        <a:xfrm>
          <a:off x="0" y="0"/>
          <a:ext cx="0" cy="0"/>
          <a:chOff x="0" y="0"/>
          <a:chExt cx="0" cy="0"/>
        </a:xfrm>
      </p:grpSpPr>
      <p:sp>
        <p:nvSpPr>
          <p:cNvPr id="2" name="Shape 0"/>
          <p:cNvSpPr/>
          <p:nvPr/>
        </p:nvSpPr>
        <p:spPr>
          <a:xfrm>
            <a:off x="1143000" y="3365302"/>
            <a:ext cx="914400" cy="914400"/>
          </a:xfrm>
          <a:prstGeom prst="roundRect">
            <a:avLst>
              <a:gd name="adj" fmla="val 27083"/>
            </a:avLst>
          </a:prstGeom>
          <a:solidFill>
            <a:srgbClr val="EF4C24"/>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485900" y="3708202"/>
            <a:ext cx="228600" cy="228600"/>
          </a:xfrm>
          <a:prstGeom prst="rect">
            <a:avLst/>
          </a:prstGeom>
        </p:spPr>
      </p:pic>
      <p:sp>
        <p:nvSpPr>
          <p:cNvPr id="4" name="Text 1"/>
          <p:cNvSpPr/>
          <p:nvPr/>
        </p:nvSpPr>
        <p:spPr>
          <a:xfrm>
            <a:off x="1143000" y="4660702"/>
            <a:ext cx="16482061" cy="446314"/>
          </a:xfrm>
          <a:prstGeom prst="rect">
            <a:avLst/>
          </a:prstGeom>
          <a:noFill/>
          <a:ln/>
        </p:spPr>
        <p:txBody>
          <a:bodyPr wrap="square" lIns="25400" tIns="25400" rIns="25400" bIns="25400" rtlCol="0" anchor="t">
            <a:normAutofit/>
          </a:bodyPr>
          <a:lstStyle/>
          <a:p>
            <a:pPr marL="0" indent="0" algn="l">
              <a:buNone/>
            </a:pPr>
            <a:r>
              <a:rPr lang="en-US" sz="2250" b="1" kern="0" spc="90" dirty="0">
                <a:solidFill>
                  <a:srgbClr val="EF4C24"/>
                </a:solidFill>
                <a:latin typeface="Arial" pitchFamily="34" charset="0"/>
                <a:ea typeface="Arial" pitchFamily="34" charset="-122"/>
                <a:cs typeface="Arial" pitchFamily="34" charset="-120"/>
              </a:rPr>
              <a:t>04</a:t>
            </a:r>
            <a:endParaRPr lang="en-US" sz="2250" dirty="0"/>
          </a:p>
        </p:txBody>
      </p:sp>
      <p:sp>
        <p:nvSpPr>
          <p:cNvPr id="5" name="Text 2"/>
          <p:cNvSpPr/>
          <p:nvPr/>
        </p:nvSpPr>
        <p:spPr>
          <a:xfrm>
            <a:off x="1143000" y="5240366"/>
            <a:ext cx="9681546" cy="862183"/>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6300" b="1" kern="0" spc="-126" dirty="0">
                <a:solidFill>
                  <a:srgbClr val="1F2429"/>
                </a:solidFill>
                <a:latin typeface="Arial" pitchFamily="34" charset="0"/>
                <a:ea typeface="Arial" pitchFamily="34" charset="-122"/>
                <a:cs typeface="Arial" pitchFamily="34" charset="-120"/>
              </a:rPr>
              <a:t>Platform &amp; Setup</a:t>
            </a:r>
            <a:endParaRPr lang="en-US" sz="6300" dirty="0"/>
          </a:p>
        </p:txBody>
      </p:sp>
      <p:sp>
        <p:nvSpPr>
          <p:cNvPr id="6" name="Text 3"/>
          <p:cNvSpPr/>
          <p:nvPr/>
        </p:nvSpPr>
        <p:spPr>
          <a:xfrm>
            <a:off x="1143000" y="6312098"/>
            <a:ext cx="7638720" cy="64770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4E565E"/>
                </a:solidFill>
                <a:latin typeface="Arial" pitchFamily="34" charset="0"/>
                <a:ea typeface="Arial" pitchFamily="34" charset="-122"/>
                <a:cs typeface="Arial" pitchFamily="34" charset="-120"/>
              </a:rPr>
              <a:t>How EBB works alongside existing partners, and what implementation looks like.</a:t>
            </a:r>
            <a:endParaRPr lang="en-US" sz="2100" dirty="0"/>
          </a:p>
        </p:txBody>
      </p:sp>
      <p:sp>
        <p:nvSpPr>
          <p:cNvPr id="7" name="Text 4"/>
          <p:cNvSpPr/>
          <p:nvPr/>
        </p:nvSpPr>
        <p:spPr>
          <a:xfrm>
            <a:off x="16088831" y="9116786"/>
            <a:ext cx="1132369" cy="332014"/>
          </a:xfrm>
          <a:prstGeom prst="rect">
            <a:avLst/>
          </a:prstGeom>
          <a:noFill/>
          <a:ln/>
        </p:spPr>
        <p:txBody>
          <a:bodyPr wrap="square" lIns="25400" tIns="25400" rIns="25400" bIns="25400" rtlCol="0" anchor="t">
            <a:normAutofit fontScale="92500"/>
          </a:bodyPr>
          <a:lstStyle/>
          <a:p>
            <a:pPr marL="0" indent="0" algn="l">
              <a:buNone/>
            </a:pPr>
            <a:r>
              <a:rPr lang="en-US" sz="1650" b="1" dirty="0">
                <a:solidFill>
                  <a:srgbClr val="EF4C24"/>
                </a:solidFill>
                <a:latin typeface="Arial" pitchFamily="34" charset="0"/>
                <a:ea typeface="Arial" pitchFamily="34" charset="-122"/>
                <a:cs typeface="Arial" pitchFamily="34" charset="-120"/>
              </a:rPr>
              <a:t>2 questions</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F4C24"/>
          </a:solidFill>
          <a:ln/>
        </p:spPr>
        <p:txBody>
          <a:bodyPr/>
          <a:lstStyle/>
          <a:p>
            <a:endParaRPr lang="en-US"/>
          </a:p>
        </p:txBody>
      </p:sp>
      <p:sp>
        <p:nvSpPr>
          <p:cNvPr id="4" name="Text 2"/>
          <p:cNvSpPr/>
          <p:nvPr/>
        </p:nvSpPr>
        <p:spPr>
          <a:xfrm>
            <a:off x="1371600" y="914400"/>
            <a:ext cx="3231222" cy="538843"/>
          </a:xfrm>
          <a:prstGeom prst="rect">
            <a:avLst/>
          </a:prstGeom>
          <a:noFill/>
          <a:ln/>
        </p:spPr>
        <p:txBody>
          <a:bodyPr wrap="square" lIns="0" tIns="0" rIns="0" bIns="0" rtlCol="0" anchor="t">
            <a:normAutofit/>
          </a:bodyPr>
          <a:lstStyle/>
          <a:p>
            <a:pPr marL="0" indent="0" algn="l">
              <a:buNone/>
            </a:pPr>
            <a:r>
              <a:rPr lang="en-US" sz="1500" b="1" kern="0" spc="210" dirty="0">
                <a:solidFill>
                  <a:srgbClr val="EF4C24"/>
                </a:solidFill>
                <a:latin typeface="Arial" pitchFamily="34" charset="0"/>
                <a:ea typeface="Arial" pitchFamily="34" charset="-122"/>
                <a:cs typeface="Arial" pitchFamily="34" charset="-120"/>
              </a:rPr>
              <a:t>PLATFORM &amp; SETUP</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F4C24">
                    <a:alpha val="92000"/>
                  </a:srgbClr>
                </a:solidFill>
                <a:latin typeface="Arial" pitchFamily="34" charset="0"/>
                <a:ea typeface="Arial" pitchFamily="34" charset="-122"/>
                <a:cs typeface="Arial" pitchFamily="34" charset="-120"/>
              </a:rPr>
              <a:t>Q14</a:t>
            </a:r>
            <a:endParaRPr lang="en-US" sz="8250" dirty="0"/>
          </a:p>
        </p:txBody>
      </p:sp>
      <p:sp>
        <p:nvSpPr>
          <p:cNvPr id="6" name="Text 4"/>
          <p:cNvSpPr/>
          <p:nvPr/>
        </p:nvSpPr>
        <p:spPr>
          <a:xfrm>
            <a:off x="1143000" y="2662918"/>
            <a:ext cx="5712660" cy="479652"/>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How would EBB work with Evive?</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153401" y="3680052"/>
            <a:ext cx="228600" cy="228600"/>
          </a:xfrm>
          <a:prstGeom prst="rect">
            <a:avLst/>
          </a:prstGeom>
        </p:spPr>
      </p:pic>
      <p:sp>
        <p:nvSpPr>
          <p:cNvPr id="9" name="Text 6"/>
          <p:cNvSpPr/>
          <p:nvPr/>
        </p:nvSpPr>
        <p:spPr>
          <a:xfrm>
            <a:off x="8477251" y="3680052"/>
            <a:ext cx="1611971" cy="438150"/>
          </a:xfrm>
          <a:prstGeom prst="rect">
            <a:avLst/>
          </a:prstGeom>
          <a:noFill/>
          <a:ln/>
        </p:spPr>
        <p:txBody>
          <a:bodyPr wrap="square" lIns="0" tIns="0" rIns="0" bIns="0" rtlCol="0" anchor="t">
            <a:normAutofit/>
          </a:bodyPr>
          <a:lstStyle/>
          <a:p>
            <a:pPr marL="0" indent="0" algn="l">
              <a:buNone/>
            </a:pPr>
            <a:r>
              <a:rPr lang="en-US" sz="1275" b="1" kern="0" spc="153" dirty="0">
                <a:solidFill>
                  <a:srgbClr val="EF4C24"/>
                </a:solidFill>
                <a:latin typeface="Arial" pitchFamily="34" charset="0"/>
                <a:ea typeface="Arial" pitchFamily="34" charset="-122"/>
                <a:cs typeface="Arial" pitchFamily="34" charset="-120"/>
              </a:rPr>
              <a:t>ANSWER</a:t>
            </a:r>
            <a:endParaRPr lang="en-US" sz="1275" dirty="0"/>
          </a:p>
        </p:txBody>
      </p:sp>
      <p:sp>
        <p:nvSpPr>
          <p:cNvPr id="10" name="Text 7"/>
          <p:cNvSpPr/>
          <p:nvPr/>
        </p:nvSpPr>
        <p:spPr>
          <a:xfrm>
            <a:off x="8153401" y="4118202"/>
            <a:ext cx="9261349" cy="1592036"/>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b="1" dirty="0">
                <a:solidFill>
                  <a:srgbClr val="1F2429"/>
                </a:solidFill>
                <a:latin typeface="Arial" pitchFamily="34" charset="0"/>
                <a:ea typeface="Arial" pitchFamily="34" charset="-122"/>
                <a:cs typeface="Arial" pitchFamily="34" charset="-120"/>
              </a:rPr>
              <a:t>EBB will not change how Evive and Elevate work together. </a:t>
            </a:r>
            <a:r>
              <a:rPr lang="en-US" sz="2025" dirty="0">
                <a:solidFill>
                  <a:srgbClr val="4E565E"/>
                </a:solidFill>
                <a:latin typeface="Arial" pitchFamily="34" charset="0"/>
                <a:ea typeface="Arial" pitchFamily="34" charset="-122"/>
                <a:cs typeface="Arial" pitchFamily="34" charset="-120"/>
              </a:rPr>
              <a:t>Evive continues to deliver communications, education, and member engagement around chronic conditions — while navigating members to Elevate’s Digital Care Programs for always-on, clinically guided support.</a:t>
            </a:r>
            <a:endParaRPr lang="en-US" sz="2025" dirty="0"/>
          </a:p>
        </p:txBody>
      </p:sp>
      <p:sp>
        <p:nvSpPr>
          <p:cNvPr id="11" name="Text 8"/>
          <p:cNvSpPr/>
          <p:nvPr/>
        </p:nvSpPr>
        <p:spPr>
          <a:xfrm>
            <a:off x="8137072" y="6272893"/>
            <a:ext cx="9261349" cy="820511"/>
          </a:xfrm>
          <a:prstGeom prst="rect">
            <a:avLst/>
          </a:prstGeom>
          <a:noFill/>
          <a:ln/>
        </p:spPr>
        <p:txBody>
          <a:bodyPr wrap="square" lIns="25400" tIns="25400" rIns="25400" bIns="25400" rtlCol="0" anchor="t">
            <a:noAutofit/>
          </a:bodyPr>
          <a:lstStyle/>
          <a:p>
            <a:pPr marL="0" indent="0" algn="l">
              <a:lnSpc>
                <a:spcPct val="150000"/>
              </a:lnSpc>
              <a:buNone/>
            </a:pPr>
            <a:r>
              <a:rPr lang="en-US" sz="2000" dirty="0">
                <a:solidFill>
                  <a:srgbClr val="4E565E"/>
                </a:solidFill>
                <a:latin typeface="Arial" pitchFamily="34" charset="0"/>
                <a:ea typeface="Arial" pitchFamily="34" charset="-122"/>
                <a:cs typeface="Arial" pitchFamily="34" charset="-120"/>
              </a:rPr>
              <a:t>Evive’s ability to enhance identification of a client’s at-risk population and engagement in Elevate’s DCPs will </a:t>
            </a:r>
            <a:r>
              <a:rPr lang="en-US" sz="2000" b="1" dirty="0">
                <a:solidFill>
                  <a:srgbClr val="1F2429"/>
                </a:solidFill>
                <a:latin typeface="Arial" pitchFamily="34" charset="0"/>
                <a:ea typeface="Arial" pitchFamily="34" charset="-122"/>
                <a:cs typeface="Arial" pitchFamily="34" charset="-120"/>
              </a:rPr>
              <a:t>drive revenue via this model</a:t>
            </a:r>
            <a:r>
              <a:rPr lang="en-US" sz="2000" dirty="0">
                <a:solidFill>
                  <a:srgbClr val="4E565E"/>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13171" y="914400"/>
            <a:ext cx="16329" cy="8496301"/>
          </a:xfrm>
          <a:prstGeom prst="rect">
            <a:avLst/>
          </a:prstGeom>
          <a:solidFill>
            <a:srgbClr val="DDE2E6"/>
          </a:solidFill>
          <a:ln/>
        </p:spPr>
        <p:txBody>
          <a:bodyPr/>
          <a:lstStyle/>
          <a:p>
            <a:endParaRPr lang="en-US"/>
          </a:p>
        </p:txBody>
      </p:sp>
      <p:sp>
        <p:nvSpPr>
          <p:cNvPr id="3" name="Shape 1"/>
          <p:cNvSpPr/>
          <p:nvPr/>
        </p:nvSpPr>
        <p:spPr>
          <a:xfrm>
            <a:off x="1143000" y="993321"/>
            <a:ext cx="114300" cy="114300"/>
          </a:xfrm>
          <a:prstGeom prst="roundRect">
            <a:avLst>
              <a:gd name="adj" fmla="val 33333"/>
            </a:avLst>
          </a:prstGeom>
          <a:solidFill>
            <a:srgbClr val="EF4C24"/>
          </a:solidFill>
          <a:ln/>
        </p:spPr>
        <p:txBody>
          <a:bodyPr/>
          <a:lstStyle/>
          <a:p>
            <a:endParaRPr lang="en-US"/>
          </a:p>
        </p:txBody>
      </p:sp>
      <p:sp>
        <p:nvSpPr>
          <p:cNvPr id="4" name="Text 2"/>
          <p:cNvSpPr/>
          <p:nvPr/>
        </p:nvSpPr>
        <p:spPr>
          <a:xfrm>
            <a:off x="1371599" y="914400"/>
            <a:ext cx="2481209" cy="310243"/>
          </a:xfrm>
          <a:prstGeom prst="rect">
            <a:avLst/>
          </a:prstGeom>
          <a:noFill/>
          <a:ln/>
        </p:spPr>
        <p:txBody>
          <a:bodyPr wrap="square" lIns="0" tIns="0" rIns="0" bIns="0" rtlCol="0" anchor="t">
            <a:normAutofit/>
          </a:bodyPr>
          <a:lstStyle/>
          <a:p>
            <a:pPr marL="0" indent="0" algn="l">
              <a:buNone/>
            </a:pPr>
            <a:r>
              <a:rPr lang="en-US" sz="1500" b="1" kern="0" spc="210" dirty="0">
                <a:solidFill>
                  <a:srgbClr val="EF4C24"/>
                </a:solidFill>
                <a:latin typeface="Arial" pitchFamily="34" charset="0"/>
                <a:ea typeface="Arial" pitchFamily="34" charset="-122"/>
                <a:cs typeface="Arial" pitchFamily="34" charset="-120"/>
              </a:rPr>
              <a:t>PLATFORM &amp; SETUP</a:t>
            </a:r>
            <a:endParaRPr lang="en-US" sz="1500" dirty="0"/>
          </a:p>
        </p:txBody>
      </p:sp>
      <p:sp>
        <p:nvSpPr>
          <p:cNvPr id="5" name="Text 3"/>
          <p:cNvSpPr/>
          <p:nvPr/>
        </p:nvSpPr>
        <p:spPr>
          <a:xfrm>
            <a:off x="1143000" y="1453243"/>
            <a:ext cx="5712660" cy="98107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8250" b="1" kern="0" spc="-247" dirty="0">
                <a:solidFill>
                  <a:srgbClr val="EF4C24">
                    <a:alpha val="92000"/>
                  </a:srgbClr>
                </a:solidFill>
                <a:latin typeface="Arial" pitchFamily="34" charset="0"/>
                <a:ea typeface="Arial" pitchFamily="34" charset="-122"/>
                <a:cs typeface="Arial" pitchFamily="34" charset="-120"/>
              </a:rPr>
              <a:t>Q15</a:t>
            </a:r>
            <a:endParaRPr lang="en-US" sz="8250" dirty="0"/>
          </a:p>
        </p:txBody>
      </p:sp>
      <p:sp>
        <p:nvSpPr>
          <p:cNvPr id="6" name="Text 4"/>
          <p:cNvSpPr/>
          <p:nvPr/>
        </p:nvSpPr>
        <p:spPr>
          <a:xfrm>
            <a:off x="1143000" y="2662918"/>
            <a:ext cx="5712660" cy="1362755"/>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2850" b="1" kern="0" spc="-29" dirty="0">
                <a:solidFill>
                  <a:srgbClr val="1F2429"/>
                </a:solidFill>
                <a:latin typeface="Arial" pitchFamily="34" charset="0"/>
                <a:ea typeface="Arial" pitchFamily="34" charset="-122"/>
                <a:cs typeface="Arial" pitchFamily="34" charset="-120"/>
              </a:rPr>
              <a:t>What is the implementation process, and who is responsible for what — client vs. bswift?</a:t>
            </a:r>
            <a:endParaRPr lang="en-US" sz="2850" dirty="0"/>
          </a:p>
        </p:txBody>
      </p:sp>
      <p:sp>
        <p:nvSpPr>
          <p:cNvPr id="7" name="Text 5"/>
          <p:cNvSpPr/>
          <p:nvPr/>
        </p:nvSpPr>
        <p:spPr>
          <a:xfrm>
            <a:off x="1143000" y="9165772"/>
            <a:ext cx="5712660" cy="283029"/>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97A0A8"/>
                </a:solidFill>
                <a:latin typeface="Arial" pitchFamily="34" charset="0"/>
                <a:ea typeface="Arial" pitchFamily="34" charset="-122"/>
                <a:cs typeface="Arial" pitchFamily="34" charset="-120"/>
              </a:rPr>
              <a:t>bswift Elevate · EBB FAQ</a:t>
            </a:r>
            <a:endParaRPr lang="en-US" sz="1350" dirty="0"/>
          </a:p>
        </p:txBody>
      </p:sp>
      <p:pic>
        <p:nvPicPr>
          <p:cNvPr id="8" name="Image 0" descr="preencoded.png"/>
          <p:cNvPicPr>
            <a:picLocks noChangeAspect="1"/>
          </p:cNvPicPr>
          <p:nvPr/>
        </p:nvPicPr>
        <p:blipFill>
          <a:blip r:embed="rId3"/>
          <a:stretch>
            <a:fillRect/>
          </a:stretch>
        </p:blipFill>
        <p:spPr>
          <a:xfrm>
            <a:off x="8283969" y="3387318"/>
            <a:ext cx="228600" cy="228600"/>
          </a:xfrm>
          <a:prstGeom prst="rect">
            <a:avLst/>
          </a:prstGeom>
        </p:spPr>
      </p:pic>
      <p:sp>
        <p:nvSpPr>
          <p:cNvPr id="9" name="Text 6"/>
          <p:cNvSpPr/>
          <p:nvPr/>
        </p:nvSpPr>
        <p:spPr>
          <a:xfrm>
            <a:off x="8680762" y="3392512"/>
            <a:ext cx="1735261" cy="266700"/>
          </a:xfrm>
          <a:prstGeom prst="rect">
            <a:avLst/>
          </a:prstGeom>
          <a:noFill/>
          <a:ln/>
        </p:spPr>
        <p:txBody>
          <a:bodyPr wrap="square" lIns="0" tIns="0" rIns="0" bIns="0" rtlCol="0" anchor="t">
            <a:normAutofit/>
          </a:bodyPr>
          <a:lstStyle/>
          <a:p>
            <a:pPr marL="0" indent="0" algn="l">
              <a:buNone/>
            </a:pPr>
            <a:r>
              <a:rPr lang="en-US" sz="1275" b="1" kern="0" spc="153" dirty="0">
                <a:solidFill>
                  <a:srgbClr val="EF4C24"/>
                </a:solidFill>
                <a:latin typeface="Arial" pitchFamily="34" charset="0"/>
                <a:ea typeface="Arial" pitchFamily="34" charset="-122"/>
                <a:cs typeface="Arial" pitchFamily="34" charset="-120"/>
              </a:rPr>
              <a:t>ANSWER</a:t>
            </a:r>
            <a:endParaRPr lang="en-US" sz="1275" dirty="0"/>
          </a:p>
        </p:txBody>
      </p:sp>
      <p:sp>
        <p:nvSpPr>
          <p:cNvPr id="14" name="TextBox 13">
            <a:extLst>
              <a:ext uri="{FF2B5EF4-FFF2-40B4-BE49-F238E27FC236}">
                <a16:creationId xmlns:a16="http://schemas.microsoft.com/office/drawing/2014/main" id="{F6FBA28A-A28A-3004-2C24-DFB7DADA8CBD}"/>
              </a:ext>
            </a:extLst>
          </p:cNvPr>
          <p:cNvSpPr txBox="1"/>
          <p:nvPr/>
        </p:nvSpPr>
        <p:spPr>
          <a:xfrm>
            <a:off x="8195782" y="4025673"/>
            <a:ext cx="9144000" cy="5113644"/>
          </a:xfrm>
          <a:prstGeom prst="rect">
            <a:avLst/>
          </a:prstGeom>
          <a:noFill/>
        </p:spPr>
        <p:txBody>
          <a:bodyPr wrap="square">
            <a:spAutoFit/>
          </a:bodyPr>
          <a:lstStyle/>
          <a:p>
            <a:pPr>
              <a:lnSpc>
                <a:spcPct val="150000"/>
              </a:lnSpc>
            </a:pPr>
            <a:r>
              <a:rPr lang="en-US" sz="2000" dirty="0">
                <a:latin typeface="Arial" panose="020B0604020202020204" pitchFamily="34" charset="0"/>
                <a:cs typeface="Arial" panose="020B0604020202020204" pitchFamily="34" charset="0"/>
              </a:rPr>
              <a:t>The primary implementation effort will be coordinated between Mobile Health and the employer’s payer/TPA. The employer will facilitate an introduction to its payer/TPA, after which Mobile Health will work directly with the payer/TPA to implement a Custom System Network (CSN) for the adjudication of claims submitted by Mobile </a:t>
            </a:r>
            <a:r>
              <a:rPr lang="en-US" sz="2000">
                <a:latin typeface="Arial" panose="020B0604020202020204" pitchFamily="34" charset="0"/>
                <a:cs typeface="Arial" panose="020B0604020202020204" pitchFamily="34" charset="0"/>
              </a:rPr>
              <a:t>Health.</a:t>
            </a:r>
          </a:p>
          <a:p>
            <a:pPr>
              <a:lnSpc>
                <a:spcPct val="150000"/>
              </a:lnSpc>
            </a:pPr>
            <a:endParaRPr lang="en-US" sz="2000"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Once implementation is complete, Mobile Health will submit claims directly to the payer/TPA for processing. The payer/TPA will adjudicate and reimburse eligible claims directly to Mobile Health, and the associated claim costs will subsequently be included on the invoice issued by the payer/TPA to the employer.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1673</Words>
  <Application>Microsoft Office PowerPoint</Application>
  <PresentationFormat>Custom</PresentationFormat>
  <Paragraphs>153</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Amy Osterhagen</cp:lastModifiedBy>
  <cp:revision>4</cp:revision>
  <dcterms:created xsi:type="dcterms:W3CDTF">2026-06-02T13:12:47Z</dcterms:created>
  <dcterms:modified xsi:type="dcterms:W3CDTF">2026-06-04T18:28:33Z</dcterms:modified>
</cp:coreProperties>
</file>